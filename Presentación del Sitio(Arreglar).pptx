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1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E8C"/>
    <a:srgbClr val="405D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7" autoAdjust="0"/>
    <p:restoredTop sz="93184" autoAdjust="0"/>
  </p:normalViewPr>
  <p:slideViewPr>
    <p:cSldViewPr snapToGrid="0">
      <p:cViewPr varScale="1">
        <p:scale>
          <a:sx n="104" d="100"/>
          <a:sy n="104" d="100"/>
        </p:scale>
        <p:origin x="828" y="120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U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360E9A-4798-4C20-98D5-D202EB6A7D72}" type="datetimeFigureOut">
              <a:rPr lang="es-CU" smtClean="0"/>
              <a:t>17/6/2024</a:t>
            </a:fld>
            <a:endParaRPr lang="es-CU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U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U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AB5DF-451C-44DD-9353-70D66FFB293E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53664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U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FAB5DF-451C-44DD-9353-70D66FFB293E}" type="slidenum">
              <a:rPr lang="es-CU" smtClean="0"/>
              <a:t>1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2183895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U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FAB5DF-451C-44DD-9353-70D66FFB293E}" type="slidenum">
              <a:rPr lang="es-CU" smtClean="0"/>
              <a:t>6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3580889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BA0B8-3AA8-AEE7-261F-F3A289ECD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A9E58E-F8BA-4392-64BA-69BF18CE5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AACD3F-7DEC-833E-6432-897D03DD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2423-1F0E-4CAE-A129-BD14372595D0}" type="datetimeFigureOut">
              <a:rPr lang="es-CU" smtClean="0"/>
              <a:t>17/6/2024</a:t>
            </a:fld>
            <a:endParaRPr lang="es-C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6B139F-D8F6-22FD-2353-9A71748B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15849F-BE3C-F0C0-5EB5-65666BD4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8081-E1C5-4F0F-B9B1-58171F25A08C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2506576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09294-7E41-5608-F1BD-B12DA5F45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AC51CC-A8BB-0126-B67C-BBE773DA9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B40038-50D2-527E-E678-941DA11B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2423-1F0E-4CAE-A129-BD14372595D0}" type="datetimeFigureOut">
              <a:rPr lang="es-CU" smtClean="0"/>
              <a:t>17/6/2024</a:t>
            </a:fld>
            <a:endParaRPr lang="es-C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B4B7B6-B43E-6CFC-AE21-063ED674A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9A2D6F-AEB1-F8C2-4E62-8B723C825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8081-E1C5-4F0F-B9B1-58171F25A08C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3581390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7817E-1117-E64B-1F9C-9E0F5901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7843E9-8271-6603-B8C4-FC37CCF22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905E70-87BE-7E98-CE8D-ECD4847EA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2423-1F0E-4CAE-A129-BD14372595D0}" type="datetimeFigureOut">
              <a:rPr lang="es-CU" smtClean="0"/>
              <a:t>17/6/2024</a:t>
            </a:fld>
            <a:endParaRPr lang="es-C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69FC40-2928-BEFD-3512-405C82B61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F66074-1C1F-6851-213C-36279C515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8081-E1C5-4F0F-B9B1-58171F25A08C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106471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A4CBD-3834-E477-569E-6AA21DC8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446E28-7A9B-E015-24A2-121FE2393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641285-FFB0-5E83-0209-16FE4944A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B7AB8A-832E-6CD8-DE8D-0577134A0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2423-1F0E-4CAE-A129-BD14372595D0}" type="datetimeFigureOut">
              <a:rPr lang="es-CU" smtClean="0"/>
              <a:t>17/6/2024</a:t>
            </a:fld>
            <a:endParaRPr lang="es-CU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987516-D4B1-D6B5-074D-FAFC3D46B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DD53D7-A049-6F0A-D2DA-DE054CF9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8081-E1C5-4F0F-B9B1-58171F25A08C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3312239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EEFD2-54C6-8FE6-B59F-FED5D6A7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C882D1-58B8-409F-B4CB-EE3623010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E4594A-B561-64BE-2496-33EBCC965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DA25AC-CAC9-FCD8-F76E-DE99DDEF15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0E9E372-0ECB-7408-3D46-A42EDD0EB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8CA4D10-6ACB-5DFE-E812-CF11CA821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2423-1F0E-4CAE-A129-BD14372595D0}" type="datetimeFigureOut">
              <a:rPr lang="es-CU" smtClean="0"/>
              <a:t>17/6/2024</a:t>
            </a:fld>
            <a:endParaRPr lang="es-CU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F42339B-30FE-4D10-A645-041406E39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C6849C4-132D-9850-82AC-6D958CB5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8081-E1C5-4F0F-B9B1-58171F25A08C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3752905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F1C48-524C-EB04-CFD6-54840372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50A3373-DE83-A598-C87A-DE96499F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2423-1F0E-4CAE-A129-BD14372595D0}" type="datetimeFigureOut">
              <a:rPr lang="es-CU" smtClean="0"/>
              <a:t>17/6/2024</a:t>
            </a:fld>
            <a:endParaRPr lang="es-CU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22A9B7-03D7-48C6-EA0F-D17B90CF1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55E7D7-CF60-A73D-5E7B-32C2569E5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8081-E1C5-4F0F-B9B1-58171F25A08C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3029329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180ED46-9D4E-D2C4-60C5-BF237DF2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2423-1F0E-4CAE-A129-BD14372595D0}" type="datetimeFigureOut">
              <a:rPr lang="es-CU" smtClean="0"/>
              <a:t>17/6/2024</a:t>
            </a:fld>
            <a:endParaRPr lang="es-CU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A67C2A6-7722-9F96-0624-862F16AF9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086DB7-2FB7-EFBC-04BC-A6FE8736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8081-E1C5-4F0F-B9B1-58171F25A08C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1216083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BE1C6-001C-A984-2C4A-81A401F4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BFE877-2030-5924-44E9-3E76E58B4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DCEC8F-0775-B1E6-A0EB-E8D24FE39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A5F524-D5EB-EAF7-D7A6-7FC0A75D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2423-1F0E-4CAE-A129-BD14372595D0}" type="datetimeFigureOut">
              <a:rPr lang="es-CU" smtClean="0"/>
              <a:t>17/6/2024</a:t>
            </a:fld>
            <a:endParaRPr lang="es-CU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FAB882-3789-4B0B-9207-3CDC34483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FF52A8-553B-3741-6E37-FF2A71FA1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8081-E1C5-4F0F-B9B1-58171F25A08C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3224727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0BB07-3D9C-EAD5-B705-EBA9B2321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AF42CFE-5735-38DD-F294-4B77C84EDF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U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2343B4-F141-2D04-0781-1328BD7B4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374D9E-C27D-E317-63E6-219553D3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2423-1F0E-4CAE-A129-BD14372595D0}" type="datetimeFigureOut">
              <a:rPr lang="es-CU" smtClean="0"/>
              <a:t>17/6/2024</a:t>
            </a:fld>
            <a:endParaRPr lang="es-CU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A33B9C-3723-BA10-97F7-DDCBA4143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512C96-BF87-A499-5A63-A5D34B67A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8081-E1C5-4F0F-B9B1-58171F25A08C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129396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C7C4C9-15D1-03D9-5D1B-F005CCB1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598A19-098D-04F2-ADB6-6F91A7AD7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AFC58E-A9F0-7E92-2905-A641C25A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2423-1F0E-4CAE-A129-BD14372595D0}" type="datetimeFigureOut">
              <a:rPr lang="es-CU" smtClean="0"/>
              <a:t>17/6/2024</a:t>
            </a:fld>
            <a:endParaRPr lang="es-C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66193E-3147-043F-BA83-E4369A7E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DA3A17-87BA-033D-5454-7FD1795F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8081-E1C5-4F0F-B9B1-58171F25A08C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402300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B04F73-EDA1-F9BB-6CA1-E2D2B5FB9E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774A6E-1A28-991B-8A82-4E5E0EF49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C2D95A-96EB-03C4-9372-8C56920CF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12423-1F0E-4CAE-A129-BD14372595D0}" type="datetimeFigureOut">
              <a:rPr lang="es-CU" smtClean="0"/>
              <a:t>17/6/2024</a:t>
            </a:fld>
            <a:endParaRPr lang="es-C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E63DA9-73C5-345F-19BD-1745E1C81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8E3660-7E25-F5C7-303E-E321DF36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8081-E1C5-4F0F-B9B1-58171F25A08C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46494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DF64E1E-D5E1-B1F6-6A1D-BB120D66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89A8FC-9D53-8826-7714-A5F5B40D9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FEB708-4A0E-74E1-FBC3-076C22B35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12423-1F0E-4CAE-A129-BD14372595D0}" type="datetimeFigureOut">
              <a:rPr lang="es-CU" smtClean="0"/>
              <a:t>17/6/2024</a:t>
            </a:fld>
            <a:endParaRPr lang="es-C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D7DB64-977D-BE72-01C3-931087277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0EF4EC-EEF5-43FE-743B-B49018B82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38081-E1C5-4F0F-B9B1-58171F25A08C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3691009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E8B1D-DA2E-B1EB-6CEC-69F779152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5944" y="4772132"/>
            <a:ext cx="9144000" cy="959268"/>
          </a:xfrm>
        </p:spPr>
        <p:txBody>
          <a:bodyPr/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Arquitectura y Redes II</a:t>
            </a:r>
            <a:endParaRPr lang="es-C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086FC5-945D-D2A2-BBB5-0BC771F6F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2056" y="5645286"/>
            <a:ext cx="9144000" cy="509337"/>
          </a:xfrm>
        </p:spPr>
        <p:txBody>
          <a:bodyPr/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Un nuevo mundo por conocer</a:t>
            </a:r>
            <a:endParaRPr lang="es-C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0441A8D8-0954-7744-9E8D-212FD867FAEA}"/>
              </a:ext>
            </a:extLst>
          </p:cNvPr>
          <p:cNvSpPr/>
          <p:nvPr/>
        </p:nvSpPr>
        <p:spPr>
          <a:xfrm rot="5400000">
            <a:off x="3711450" y="-3708419"/>
            <a:ext cx="4769100" cy="12192001"/>
          </a:xfrm>
          <a:custGeom>
            <a:avLst/>
            <a:gdLst>
              <a:gd name="connsiteX0" fmla="*/ 168073 w 4769100"/>
              <a:gd name="connsiteY0" fmla="*/ 12192001 h 12192001"/>
              <a:gd name="connsiteX1" fmla="*/ 4486123 w 4769100"/>
              <a:gd name="connsiteY1" fmla="*/ 6821711 h 12192001"/>
              <a:gd name="connsiteX2" fmla="*/ 4632373 w 4769100"/>
              <a:gd name="connsiteY2" fmla="*/ 12192001 h 12192001"/>
              <a:gd name="connsiteX3" fmla="*/ 168071 w 4769100"/>
              <a:gd name="connsiteY3" fmla="*/ 0 h 12192001"/>
              <a:gd name="connsiteX4" fmla="*/ 4536871 w 4769100"/>
              <a:gd name="connsiteY4" fmla="*/ 0 h 12192001"/>
              <a:gd name="connsiteX5" fmla="*/ 4439753 w 4769100"/>
              <a:gd name="connsiteY5" fmla="*/ 5370288 h 12192001"/>
              <a:gd name="connsiteX6" fmla="*/ 0 w 4769100"/>
              <a:gd name="connsiteY6" fmla="*/ 11996057 h 12192001"/>
              <a:gd name="connsiteX7" fmla="*/ 0 w 4769100"/>
              <a:gd name="connsiteY7" fmla="*/ 224971 h 12192001"/>
              <a:gd name="connsiteX8" fmla="*/ 4769100 w 4769100"/>
              <a:gd name="connsiteY8" fmla="*/ 6110513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69100" h="12192001">
                <a:moveTo>
                  <a:pt x="168073" y="12192001"/>
                </a:moveTo>
                <a:lnTo>
                  <a:pt x="4486123" y="6821711"/>
                </a:lnTo>
                <a:lnTo>
                  <a:pt x="4632373" y="12192001"/>
                </a:lnTo>
                <a:close/>
                <a:moveTo>
                  <a:pt x="168071" y="0"/>
                </a:moveTo>
                <a:lnTo>
                  <a:pt x="4536871" y="0"/>
                </a:lnTo>
                <a:lnTo>
                  <a:pt x="4439753" y="5370288"/>
                </a:lnTo>
                <a:close/>
                <a:moveTo>
                  <a:pt x="0" y="11996057"/>
                </a:moveTo>
                <a:lnTo>
                  <a:pt x="0" y="224971"/>
                </a:lnTo>
                <a:lnTo>
                  <a:pt x="4769100" y="6110513"/>
                </a:lnTo>
                <a:close/>
              </a:path>
            </a:pathLst>
          </a:custGeom>
          <a:blipFill dpi="0" rotWithShape="0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2207549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726016EA-8AE8-0C68-867D-59E74B326C53}"/>
              </a:ext>
            </a:extLst>
          </p:cNvPr>
          <p:cNvSpPr/>
          <p:nvPr/>
        </p:nvSpPr>
        <p:spPr>
          <a:xfrm>
            <a:off x="-2" y="0"/>
            <a:ext cx="12192002" cy="6857999"/>
          </a:xfrm>
          <a:custGeom>
            <a:avLst/>
            <a:gdLst>
              <a:gd name="connsiteX0" fmla="*/ 12192002 w 12192002"/>
              <a:gd name="connsiteY0" fmla="*/ 5301675 h 6857999"/>
              <a:gd name="connsiteX1" fmla="*/ 12192002 w 12192002"/>
              <a:gd name="connsiteY1" fmla="*/ 6857999 h 6857999"/>
              <a:gd name="connsiteX2" fmla="*/ 9913262 w 12192002"/>
              <a:gd name="connsiteY2" fmla="*/ 6857999 h 6857999"/>
              <a:gd name="connsiteX3" fmla="*/ 2 w 12192002"/>
              <a:gd name="connsiteY3" fmla="*/ 2008249 h 6857999"/>
              <a:gd name="connsiteX4" fmla="*/ 3500584 w 12192002"/>
              <a:gd name="connsiteY4" fmla="*/ 4429824 h 6857999"/>
              <a:gd name="connsiteX5" fmla="*/ 2 w 12192002"/>
              <a:gd name="connsiteY5" fmla="*/ 5287161 h 6857999"/>
              <a:gd name="connsiteX6" fmla="*/ 0 w 12192002"/>
              <a:gd name="connsiteY6" fmla="*/ 0 h 6857999"/>
              <a:gd name="connsiteX7" fmla="*/ 6734630 w 12192002"/>
              <a:gd name="connsiteY7" fmla="*/ 0 h 6857999"/>
              <a:gd name="connsiteX8" fmla="*/ 2821745 w 12192002"/>
              <a:gd name="connsiteY8" fmla="*/ 3722255 h 6857999"/>
              <a:gd name="connsiteX9" fmla="*/ 0 w 12192002"/>
              <a:gd name="connsiteY9" fmla="*/ 175360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2" h="6857999">
                <a:moveTo>
                  <a:pt x="12192002" y="5301675"/>
                </a:moveTo>
                <a:lnTo>
                  <a:pt x="12192002" y="6857999"/>
                </a:lnTo>
                <a:lnTo>
                  <a:pt x="9913262" y="6857999"/>
                </a:lnTo>
                <a:close/>
                <a:moveTo>
                  <a:pt x="2" y="2008249"/>
                </a:moveTo>
                <a:lnTo>
                  <a:pt x="3500584" y="4429824"/>
                </a:lnTo>
                <a:lnTo>
                  <a:pt x="2" y="5287161"/>
                </a:lnTo>
                <a:close/>
                <a:moveTo>
                  <a:pt x="0" y="0"/>
                </a:moveTo>
                <a:lnTo>
                  <a:pt x="6734630" y="0"/>
                </a:lnTo>
                <a:lnTo>
                  <a:pt x="2821745" y="3722255"/>
                </a:lnTo>
                <a:lnTo>
                  <a:pt x="0" y="1753602"/>
                </a:lnTo>
                <a:close/>
              </a:path>
            </a:pathLst>
          </a:custGeom>
          <a:blipFill dpi="0" rotWithShape="0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U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5DCA1851-A8B4-C9FB-E734-42F2B1051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1025" y="497891"/>
            <a:ext cx="9144000" cy="959268"/>
          </a:xfrm>
        </p:spPr>
        <p:txBody>
          <a:bodyPr>
            <a:noAutofit/>
          </a:bodyPr>
          <a:lstStyle/>
          <a:p>
            <a:r>
              <a:rPr lang="es-ES" sz="4400" b="1" dirty="0">
                <a:latin typeface="Arial" panose="020B0604020202020204" pitchFamily="34" charset="0"/>
                <a:cs typeface="Arial" panose="020B0604020202020204" pitchFamily="34" charset="0"/>
              </a:rPr>
              <a:t>Arquitectura y Redes II</a:t>
            </a:r>
            <a:endParaRPr lang="es-CU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ubtítulo 2">
            <a:extLst>
              <a:ext uri="{FF2B5EF4-FFF2-40B4-BE49-F238E27FC236}">
                <a16:creationId xmlns:a16="http://schemas.microsoft.com/office/drawing/2014/main" id="{9C3B3B27-6E20-4A81-CFD1-3DCCF6603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1025" y="1440101"/>
            <a:ext cx="9144000" cy="509337"/>
          </a:xfrm>
        </p:spPr>
        <p:txBody>
          <a:bodyPr>
            <a:norm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Un nuevo mundo por conocer</a:t>
            </a:r>
            <a:endParaRPr lang="es-C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F4E9098-6EFA-4AE4-FA9A-0C9B9964FE80}"/>
              </a:ext>
            </a:extLst>
          </p:cNvPr>
          <p:cNvSpPr/>
          <p:nvPr/>
        </p:nvSpPr>
        <p:spPr>
          <a:xfrm>
            <a:off x="3640018" y="2893176"/>
            <a:ext cx="847193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CP Fernando Aguado y Rico</a:t>
            </a:r>
            <a:endParaRPr lang="es-ES" sz="4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7FD7096-0BCF-8D06-A9E2-4D5D9AB0C195}"/>
              </a:ext>
            </a:extLst>
          </p:cNvPr>
          <p:cNvSpPr/>
          <p:nvPr/>
        </p:nvSpPr>
        <p:spPr>
          <a:xfrm>
            <a:off x="7611779" y="4762406"/>
            <a:ext cx="3615022" cy="166199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Informática</a:t>
            </a:r>
          </a:p>
          <a:p>
            <a:pPr algn="ctr"/>
            <a:r>
              <a:rPr lang="es-E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endParaRPr lang="es-E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43EE831-BC4D-74C2-05FF-EFC81BA41545}"/>
              </a:ext>
            </a:extLst>
          </p:cNvPr>
          <p:cNvSpPr/>
          <p:nvPr/>
        </p:nvSpPr>
        <p:spPr>
          <a:xfrm>
            <a:off x="8804019" y="5442019"/>
            <a:ext cx="277837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" panose="020B0502040204020203" pitchFamily="34" charset="0"/>
              </a:rPr>
              <a:t>2do Año</a:t>
            </a:r>
            <a:endParaRPr lang="es-E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hnschrift" panose="020B0502040204020203" pitchFamily="34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9608E18-814E-9CCE-126D-0740E97EDE43}"/>
              </a:ext>
            </a:extLst>
          </p:cNvPr>
          <p:cNvSpPr/>
          <p:nvPr/>
        </p:nvSpPr>
        <p:spPr>
          <a:xfrm>
            <a:off x="4995426" y="3553576"/>
            <a:ext cx="4759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4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Centro Habana</a:t>
            </a:r>
            <a:endParaRPr lang="es-E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1ECF54-E5AB-ED3E-45B3-3F6BD0633637}"/>
              </a:ext>
            </a:extLst>
          </p:cNvPr>
          <p:cNvSpPr txBox="1">
            <a:spLocks/>
          </p:cNvSpPr>
          <p:nvPr/>
        </p:nvSpPr>
        <p:spPr>
          <a:xfrm>
            <a:off x="6168475" y="6101493"/>
            <a:ext cx="3437439" cy="6052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Curso: 2023-2024</a:t>
            </a:r>
            <a:endParaRPr lang="es-C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060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orma libre: forma 65">
            <a:extLst>
              <a:ext uri="{FF2B5EF4-FFF2-40B4-BE49-F238E27FC236}">
                <a16:creationId xmlns:a16="http://schemas.microsoft.com/office/drawing/2014/main" id="{BF3DBB6D-D66C-7F2C-CA33-B2853B2F9728}"/>
              </a:ext>
            </a:extLst>
          </p:cNvPr>
          <p:cNvSpPr/>
          <p:nvPr/>
        </p:nvSpPr>
        <p:spPr>
          <a:xfrm>
            <a:off x="1" y="0"/>
            <a:ext cx="12191999" cy="6869367"/>
          </a:xfrm>
          <a:custGeom>
            <a:avLst/>
            <a:gdLst>
              <a:gd name="connsiteX0" fmla="*/ 0 w 12191999"/>
              <a:gd name="connsiteY0" fmla="*/ 5747658 h 6869367"/>
              <a:gd name="connsiteX1" fmla="*/ 2090057 w 12191999"/>
              <a:gd name="connsiteY1" fmla="*/ 6869367 h 6869367"/>
              <a:gd name="connsiteX2" fmla="*/ 0 w 12191999"/>
              <a:gd name="connsiteY2" fmla="*/ 6869367 h 6869367"/>
              <a:gd name="connsiteX3" fmla="*/ 9197608 w 12191999"/>
              <a:gd name="connsiteY3" fmla="*/ 1721770 h 6869367"/>
              <a:gd name="connsiteX4" fmla="*/ 12191999 w 12191999"/>
              <a:gd name="connsiteY4" fmla="*/ 3404710 h 6869367"/>
              <a:gd name="connsiteX5" fmla="*/ 12191999 w 12191999"/>
              <a:gd name="connsiteY5" fmla="*/ 4822852 h 6869367"/>
              <a:gd name="connsiteX6" fmla="*/ 8697500 w 12191999"/>
              <a:gd name="connsiteY6" fmla="*/ 0 h 6869367"/>
              <a:gd name="connsiteX7" fmla="*/ 11952513 w 12191999"/>
              <a:gd name="connsiteY7" fmla="*/ 0 h 6869367"/>
              <a:gd name="connsiteX8" fmla="*/ 8697500 w 12191999"/>
              <a:gd name="connsiteY8" fmla="*/ 1792514 h 6869367"/>
              <a:gd name="connsiteX9" fmla="*/ 12191999 w 12191999"/>
              <a:gd name="connsiteY9" fmla="*/ 0 h 6869367"/>
              <a:gd name="connsiteX10" fmla="*/ 12191999 w 12191999"/>
              <a:gd name="connsiteY10" fmla="*/ 3077029 h 6869367"/>
              <a:gd name="connsiteX11" fmla="*/ 9376228 w 12191999"/>
              <a:gd name="connsiteY11" fmla="*/ 1538514 h 6869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6869367">
                <a:moveTo>
                  <a:pt x="0" y="5747658"/>
                </a:moveTo>
                <a:lnTo>
                  <a:pt x="2090057" y="6869367"/>
                </a:lnTo>
                <a:lnTo>
                  <a:pt x="0" y="6869367"/>
                </a:lnTo>
                <a:close/>
                <a:moveTo>
                  <a:pt x="9197608" y="1721770"/>
                </a:moveTo>
                <a:lnTo>
                  <a:pt x="12191999" y="3404710"/>
                </a:lnTo>
                <a:lnTo>
                  <a:pt x="12191999" y="4822852"/>
                </a:lnTo>
                <a:close/>
                <a:moveTo>
                  <a:pt x="8697500" y="0"/>
                </a:moveTo>
                <a:lnTo>
                  <a:pt x="11952513" y="0"/>
                </a:lnTo>
                <a:lnTo>
                  <a:pt x="8697500" y="1792514"/>
                </a:lnTo>
                <a:close/>
                <a:moveTo>
                  <a:pt x="12191999" y="0"/>
                </a:moveTo>
                <a:lnTo>
                  <a:pt x="12191999" y="3077029"/>
                </a:lnTo>
                <a:lnTo>
                  <a:pt x="9376228" y="153851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U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F3CF834-6C60-BFF0-C06D-837164639A02}"/>
              </a:ext>
            </a:extLst>
          </p:cNvPr>
          <p:cNvGrpSpPr/>
          <p:nvPr/>
        </p:nvGrpSpPr>
        <p:grpSpPr>
          <a:xfrm>
            <a:off x="3431054" y="1348113"/>
            <a:ext cx="3891194" cy="1200108"/>
            <a:chOff x="3403104" y="1138843"/>
            <a:chExt cx="3891194" cy="1200108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2CCAF2C0-3FC4-631B-CCF0-374A8436E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2160" y="1138843"/>
              <a:ext cx="1028885" cy="659722"/>
            </a:xfrm>
            <a:prstGeom prst="rect">
              <a:avLst/>
            </a:prstGeom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B1294B15-C3EB-105C-7159-A01DA4162482}"/>
                </a:ext>
              </a:extLst>
            </p:cNvPr>
            <p:cNvSpPr txBox="1"/>
            <p:nvPr/>
          </p:nvSpPr>
          <p:spPr>
            <a:xfrm>
              <a:off x="3403104" y="1754176"/>
              <a:ext cx="389119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Jefe de Equipo:</a:t>
              </a:r>
            </a:p>
            <a:p>
              <a:pPr algn="ctr"/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Jonathan </a:t>
              </a:r>
              <a:r>
                <a:rPr lang="es-ES" sz="16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Ackair</a:t>
              </a:r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 Rodríguez </a:t>
              </a:r>
              <a:r>
                <a:rPr lang="es-ES" sz="16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Rodríguez</a:t>
              </a:r>
              <a:endParaRPr lang="es-CU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984C558B-5878-2D03-74F9-DAD0090CA0CE}"/>
              </a:ext>
            </a:extLst>
          </p:cNvPr>
          <p:cNvGrpSpPr/>
          <p:nvPr/>
        </p:nvGrpSpPr>
        <p:grpSpPr>
          <a:xfrm>
            <a:off x="988291" y="2418041"/>
            <a:ext cx="2016065" cy="1227050"/>
            <a:chOff x="1425654" y="2487076"/>
            <a:chExt cx="2016065" cy="122705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25EC3AE5-B1A0-72CC-F191-5F6A47ADA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1915" y="2487076"/>
              <a:ext cx="1028885" cy="646331"/>
            </a:xfrm>
            <a:prstGeom prst="rect">
              <a:avLst/>
            </a:prstGeom>
            <a:noFill/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6F3F9D20-5F8A-0D24-845B-B028149DEDC8}"/>
                </a:ext>
              </a:extLst>
            </p:cNvPr>
            <p:cNvSpPr txBox="1"/>
            <p:nvPr/>
          </p:nvSpPr>
          <p:spPr>
            <a:xfrm>
              <a:off x="1425654" y="3129351"/>
              <a:ext cx="20160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Diseñador:</a:t>
              </a:r>
            </a:p>
            <a:p>
              <a:pPr algn="ctr"/>
              <a:r>
                <a:rPr lang="es-ES" sz="16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Yorlan</a:t>
              </a:r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 León Pérez 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BD66DA85-A94F-DFBB-70A3-631B4ADDC646}"/>
              </a:ext>
            </a:extLst>
          </p:cNvPr>
          <p:cNvGrpSpPr/>
          <p:nvPr/>
        </p:nvGrpSpPr>
        <p:grpSpPr>
          <a:xfrm>
            <a:off x="2049455" y="3894107"/>
            <a:ext cx="3206327" cy="1240121"/>
            <a:chOff x="2417447" y="3812735"/>
            <a:chExt cx="3206327" cy="1240121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A0B86AFC-4FF2-A0AA-02E6-8E8B101CA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6166" y="3812735"/>
              <a:ext cx="1028885" cy="646331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9E57A6D-5C18-41C7-6F3B-078AEFB00C6C}"/>
                </a:ext>
              </a:extLst>
            </p:cNvPr>
            <p:cNvSpPr txBox="1"/>
            <p:nvPr/>
          </p:nvSpPr>
          <p:spPr>
            <a:xfrm>
              <a:off x="2417447" y="4468081"/>
              <a:ext cx="320632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Documentador:</a:t>
              </a:r>
            </a:p>
            <a:p>
              <a:pPr algn="ctr"/>
              <a:r>
                <a:rPr lang="es-ES" sz="16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Carls</a:t>
              </a:r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 Lewis Fernández Franco 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2321835-B527-36C6-66A5-126E58F35D37}"/>
              </a:ext>
            </a:extLst>
          </p:cNvPr>
          <p:cNvGrpSpPr/>
          <p:nvPr/>
        </p:nvGrpSpPr>
        <p:grpSpPr>
          <a:xfrm>
            <a:off x="6270472" y="3924389"/>
            <a:ext cx="2281395" cy="1232098"/>
            <a:chOff x="6857283" y="3812735"/>
            <a:chExt cx="2281395" cy="1232098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567ED421-60FF-9FF7-543F-92426D657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3535" y="3812735"/>
              <a:ext cx="1028885" cy="646331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84E90410-BCAD-757D-7347-08C84AB818CF}"/>
                </a:ext>
              </a:extLst>
            </p:cNvPr>
            <p:cNvSpPr txBox="1"/>
            <p:nvPr/>
          </p:nvSpPr>
          <p:spPr>
            <a:xfrm>
              <a:off x="6857283" y="4460058"/>
              <a:ext cx="228139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Documentador 2:</a:t>
              </a:r>
            </a:p>
            <a:p>
              <a:pPr algn="ctr"/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Sabrina Nazco Álamo</a:t>
              </a:r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471792-92A9-1356-7FBD-A06169783980}"/>
              </a:ext>
            </a:extLst>
          </p:cNvPr>
          <p:cNvSpPr/>
          <p:nvPr/>
        </p:nvSpPr>
        <p:spPr>
          <a:xfrm>
            <a:off x="747858" y="335344"/>
            <a:ext cx="73019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Equipo de desarrollo:</a:t>
            </a:r>
            <a:endParaRPr lang="es-E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488A325-A064-AFDA-4E12-6F4FDDD3810D}"/>
              </a:ext>
            </a:extLst>
          </p:cNvPr>
          <p:cNvSpPr txBox="1"/>
          <p:nvPr/>
        </p:nvSpPr>
        <p:spPr>
          <a:xfrm>
            <a:off x="3991643" y="5932850"/>
            <a:ext cx="5778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Cliente: Hassan A. Ramos García</a:t>
            </a:r>
            <a:endParaRPr lang="es-E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E0F469A2-F015-93C2-BD79-4B1C0B8C625F}"/>
              </a:ext>
            </a:extLst>
          </p:cNvPr>
          <p:cNvGrpSpPr/>
          <p:nvPr/>
        </p:nvGrpSpPr>
        <p:grpSpPr>
          <a:xfrm>
            <a:off x="7911977" y="2318815"/>
            <a:ext cx="2283702" cy="1498375"/>
            <a:chOff x="7370569" y="2385235"/>
            <a:chExt cx="2283702" cy="1498375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5DA21216-E87C-D274-21EF-993AEDE7A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7977" y="2385235"/>
              <a:ext cx="1028885" cy="646331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AA1DC397-9012-62BA-F8E1-C7E933D5742A}"/>
                </a:ext>
              </a:extLst>
            </p:cNvPr>
            <p:cNvSpPr txBox="1"/>
            <p:nvPr/>
          </p:nvSpPr>
          <p:spPr>
            <a:xfrm>
              <a:off x="7370569" y="3021836"/>
              <a:ext cx="228370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Programador:</a:t>
              </a:r>
            </a:p>
            <a:p>
              <a:pPr algn="ctr"/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Lena Ybarra Diaz</a:t>
              </a:r>
              <a:endParaRPr lang="es-CU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490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rma libre: forma 42">
            <a:extLst>
              <a:ext uri="{FF2B5EF4-FFF2-40B4-BE49-F238E27FC236}">
                <a16:creationId xmlns:a16="http://schemas.microsoft.com/office/drawing/2014/main" id="{07C6212A-20E3-A90B-A0CB-02A57C7AD75B}"/>
              </a:ext>
            </a:extLst>
          </p:cNvPr>
          <p:cNvSpPr/>
          <p:nvPr/>
        </p:nvSpPr>
        <p:spPr>
          <a:xfrm>
            <a:off x="1" y="0"/>
            <a:ext cx="12192000" cy="6858001"/>
          </a:xfrm>
          <a:custGeom>
            <a:avLst/>
            <a:gdLst>
              <a:gd name="connsiteX0" fmla="*/ 9681666 w 12192000"/>
              <a:gd name="connsiteY0" fmla="*/ 6053709 h 6858001"/>
              <a:gd name="connsiteX1" fmla="*/ 11947541 w 12192000"/>
              <a:gd name="connsiteY1" fmla="*/ 6858000 h 6858001"/>
              <a:gd name="connsiteX2" fmla="*/ 8617527 w 12192000"/>
              <a:gd name="connsiteY2" fmla="*/ 6858001 h 6858001"/>
              <a:gd name="connsiteX3" fmla="*/ 10532560 w 12192000"/>
              <a:gd name="connsiteY3" fmla="*/ 5410591 h 6858001"/>
              <a:gd name="connsiteX4" fmla="*/ 12180526 w 12192000"/>
              <a:gd name="connsiteY4" fmla="*/ 6858000 h 6858001"/>
              <a:gd name="connsiteX5" fmla="*/ 12140819 w 12192000"/>
              <a:gd name="connsiteY5" fmla="*/ 6858000 h 6858001"/>
              <a:gd name="connsiteX6" fmla="*/ 9743431 w 12192000"/>
              <a:gd name="connsiteY6" fmla="*/ 6007026 h 6858001"/>
              <a:gd name="connsiteX7" fmla="*/ 11041781 w 12192000"/>
              <a:gd name="connsiteY7" fmla="*/ 5025716 h 6858001"/>
              <a:gd name="connsiteX8" fmla="*/ 12114850 w 12192000"/>
              <a:gd name="connsiteY8" fmla="*/ 6714265 h 6858001"/>
              <a:gd name="connsiteX9" fmla="*/ 10585219 w 12192000"/>
              <a:gd name="connsiteY9" fmla="*/ 5370791 h 6858001"/>
              <a:gd name="connsiteX10" fmla="*/ 12192000 w 12192000"/>
              <a:gd name="connsiteY10" fmla="*/ 4156366 h 6858001"/>
              <a:gd name="connsiteX11" fmla="*/ 12192000 w 12192000"/>
              <a:gd name="connsiteY11" fmla="*/ 6715125 h 6858001"/>
              <a:gd name="connsiteX12" fmla="*/ 11093530 w 12192000"/>
              <a:gd name="connsiteY12" fmla="*/ 4986604 h 6858001"/>
              <a:gd name="connsiteX13" fmla="*/ 0 w 12192000"/>
              <a:gd name="connsiteY13" fmla="*/ 0 h 6858001"/>
              <a:gd name="connsiteX14" fmla="*/ 1374436 w 12192000"/>
              <a:gd name="connsiteY14" fmla="*/ 0 h 6858001"/>
              <a:gd name="connsiteX15" fmla="*/ 1872890 w 12192000"/>
              <a:gd name="connsiteY15" fmla="*/ 1336844 h 6858001"/>
              <a:gd name="connsiteX16" fmla="*/ 0 w 12192000"/>
              <a:gd name="connsiteY16" fmla="*/ 177652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1">
                <a:moveTo>
                  <a:pt x="9681666" y="6053709"/>
                </a:moveTo>
                <a:lnTo>
                  <a:pt x="11947541" y="6858000"/>
                </a:lnTo>
                <a:lnTo>
                  <a:pt x="8617527" y="6858001"/>
                </a:lnTo>
                <a:close/>
                <a:moveTo>
                  <a:pt x="10532560" y="5410591"/>
                </a:moveTo>
                <a:lnTo>
                  <a:pt x="12180526" y="6858000"/>
                </a:lnTo>
                <a:lnTo>
                  <a:pt x="12140819" y="6858000"/>
                </a:lnTo>
                <a:lnTo>
                  <a:pt x="9743431" y="6007026"/>
                </a:lnTo>
                <a:close/>
                <a:moveTo>
                  <a:pt x="11041781" y="5025716"/>
                </a:moveTo>
                <a:lnTo>
                  <a:pt x="12114850" y="6714265"/>
                </a:lnTo>
                <a:lnTo>
                  <a:pt x="10585219" y="5370791"/>
                </a:lnTo>
                <a:close/>
                <a:moveTo>
                  <a:pt x="12192000" y="4156366"/>
                </a:moveTo>
                <a:lnTo>
                  <a:pt x="12192000" y="6715125"/>
                </a:lnTo>
                <a:lnTo>
                  <a:pt x="11093530" y="4986604"/>
                </a:lnTo>
                <a:close/>
                <a:moveTo>
                  <a:pt x="0" y="0"/>
                </a:moveTo>
                <a:lnTo>
                  <a:pt x="1374436" y="0"/>
                </a:lnTo>
                <a:lnTo>
                  <a:pt x="1872890" y="1336844"/>
                </a:lnTo>
                <a:lnTo>
                  <a:pt x="0" y="177652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U"/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9AF2C567-F28E-68A7-7355-E4E0ACC729B3}"/>
              </a:ext>
            </a:extLst>
          </p:cNvPr>
          <p:cNvSpPr/>
          <p:nvPr/>
        </p:nvSpPr>
        <p:spPr>
          <a:xfrm rot="3453849">
            <a:off x="12093645" y="6752865"/>
            <a:ext cx="143841" cy="28770"/>
          </a:xfrm>
          <a:custGeom>
            <a:avLst/>
            <a:gdLst>
              <a:gd name="connsiteX0" fmla="*/ 0 w 143841"/>
              <a:gd name="connsiteY0" fmla="*/ 28769 h 28770"/>
              <a:gd name="connsiteX1" fmla="*/ 98570 w 143841"/>
              <a:gd name="connsiteY1" fmla="*/ 0 h 28770"/>
              <a:gd name="connsiteX2" fmla="*/ 143841 w 143841"/>
              <a:gd name="connsiteY2" fmla="*/ 28770 h 28770"/>
              <a:gd name="connsiteX3" fmla="*/ 0 w 143841"/>
              <a:gd name="connsiteY3" fmla="*/ 28769 h 28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841" h="28770">
                <a:moveTo>
                  <a:pt x="0" y="28769"/>
                </a:moveTo>
                <a:lnTo>
                  <a:pt x="98570" y="0"/>
                </a:lnTo>
                <a:lnTo>
                  <a:pt x="143841" y="28770"/>
                </a:lnTo>
                <a:lnTo>
                  <a:pt x="0" y="28769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U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2B4BDBF4-0E87-7D57-BAD7-47684D906A31}"/>
              </a:ext>
            </a:extLst>
          </p:cNvPr>
          <p:cNvGrpSpPr/>
          <p:nvPr/>
        </p:nvGrpSpPr>
        <p:grpSpPr>
          <a:xfrm>
            <a:off x="710199" y="3663621"/>
            <a:ext cx="6211957" cy="1994776"/>
            <a:chOff x="3582708" y="288691"/>
            <a:chExt cx="6211957" cy="1994776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1C746FE-2E33-5553-43C5-7EAECB1DDACF}"/>
                </a:ext>
              </a:extLst>
            </p:cNvPr>
            <p:cNvSpPr/>
            <p:nvPr/>
          </p:nvSpPr>
          <p:spPr>
            <a:xfrm>
              <a:off x="3706693" y="288691"/>
              <a:ext cx="260840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5400" b="1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Misi</a:t>
              </a:r>
              <a:r>
                <a:rPr lang="es-ES" sz="5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ón:</a:t>
              </a:r>
              <a:endParaRPr lang="es-E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61B2876C-E1CC-F2BA-8C29-3A79042CD33E}"/>
                </a:ext>
              </a:extLst>
            </p:cNvPr>
            <p:cNvSpPr txBox="1"/>
            <p:nvPr/>
          </p:nvSpPr>
          <p:spPr>
            <a:xfrm>
              <a:off x="3582708" y="1360137"/>
              <a:ext cx="621195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s-ES" b="1" dirty="0">
                  <a:latin typeface="Arial" panose="020B0604020202020204" pitchFamily="34" charset="0"/>
                  <a:cs typeface="Arial" panose="020B0604020202020204" pitchFamily="34" charset="0"/>
                </a:rPr>
                <a:t>Ser el principal punto de encuentro para </a:t>
              </a:r>
              <a:r>
                <a:rPr lang="es-ES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profesionles</a:t>
              </a:r>
              <a:endParaRPr lang="es-E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/>
              <a:r>
                <a:rPr lang="es-ES" b="1" dirty="0">
                  <a:latin typeface="Arial" panose="020B0604020202020204" pitchFamily="34" charset="0"/>
                  <a:cs typeface="Arial" panose="020B0604020202020204" pitchFamily="34" charset="0"/>
                </a:rPr>
                <a:t>y académicos de las redes de computadoras en busca </a:t>
              </a:r>
            </a:p>
            <a:p>
              <a:pPr algn="just"/>
              <a:r>
                <a:rPr lang="es-ES" b="1" dirty="0">
                  <a:latin typeface="Arial" panose="020B0604020202020204" pitchFamily="34" charset="0"/>
                  <a:cs typeface="Arial" panose="020B0604020202020204" pitchFamily="34" charset="0"/>
                </a:rPr>
                <a:t>de información actualizada.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1EBB4225-71FF-74F1-7E87-DEB6677A3363}"/>
              </a:ext>
            </a:extLst>
          </p:cNvPr>
          <p:cNvGrpSpPr/>
          <p:nvPr/>
        </p:nvGrpSpPr>
        <p:grpSpPr>
          <a:xfrm>
            <a:off x="5203327" y="139186"/>
            <a:ext cx="5554726" cy="1920312"/>
            <a:chOff x="1074072" y="3643604"/>
            <a:chExt cx="5554726" cy="1920312"/>
          </a:xfrm>
        </p:grpSpPr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85DBD038-D3D2-F2CE-AC1B-5B5285111B37}"/>
                </a:ext>
              </a:extLst>
            </p:cNvPr>
            <p:cNvSpPr/>
            <p:nvPr/>
          </p:nvSpPr>
          <p:spPr>
            <a:xfrm>
              <a:off x="1318117" y="3643604"/>
              <a:ext cx="248048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ES" sz="54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Visión:</a:t>
              </a:r>
              <a:endParaRPr lang="es-E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E6524DAA-47F8-4E93-E641-32BD334EDD72}"/>
                </a:ext>
              </a:extLst>
            </p:cNvPr>
            <p:cNvSpPr txBox="1"/>
            <p:nvPr/>
          </p:nvSpPr>
          <p:spPr>
            <a:xfrm>
              <a:off x="1074072" y="4732919"/>
              <a:ext cx="555472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Ser reconocidos como el portal de referencia en el</a:t>
              </a:r>
            </a:p>
            <a:p>
              <a:pPr algn="just"/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ámbito de las redes de computadoras, proporcionando</a:t>
              </a:r>
            </a:p>
            <a:p>
              <a:pPr algn="just"/>
              <a:r>
                <a:rPr lang="es-E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contenido de calidad.</a:t>
              </a: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54603EBA-B7AC-E52A-E719-11C98AB62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997" y="2016899"/>
            <a:ext cx="4317633" cy="272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65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orma libre: forma 57">
            <a:extLst>
              <a:ext uri="{FF2B5EF4-FFF2-40B4-BE49-F238E27FC236}">
                <a16:creationId xmlns:a16="http://schemas.microsoft.com/office/drawing/2014/main" id="{A24CC22C-8CCC-6F5A-1DBC-31EC79D93130}"/>
              </a:ext>
            </a:extLst>
          </p:cNvPr>
          <p:cNvSpPr/>
          <p:nvPr/>
        </p:nvSpPr>
        <p:spPr>
          <a:xfrm rot="17622838">
            <a:off x="4140154" y="-3448679"/>
            <a:ext cx="3885682" cy="13820441"/>
          </a:xfrm>
          <a:custGeom>
            <a:avLst/>
            <a:gdLst>
              <a:gd name="connsiteX0" fmla="*/ 1214113 w 3885682"/>
              <a:gd name="connsiteY0" fmla="*/ 11552756 h 13820441"/>
              <a:gd name="connsiteX1" fmla="*/ 1214113 w 3885682"/>
              <a:gd name="connsiteY1" fmla="*/ 13696546 h 13820441"/>
              <a:gd name="connsiteX2" fmla="*/ 0 w 3885682"/>
              <a:gd name="connsiteY2" fmla="*/ 10932550 h 13820441"/>
              <a:gd name="connsiteX3" fmla="*/ 2416908 w 3885682"/>
              <a:gd name="connsiteY3" fmla="*/ 12167177 h 13820441"/>
              <a:gd name="connsiteX4" fmla="*/ 1344742 w 3885682"/>
              <a:gd name="connsiteY4" fmla="*/ 13673610 h 13820441"/>
              <a:gd name="connsiteX5" fmla="*/ 1344742 w 3885682"/>
              <a:gd name="connsiteY5" fmla="*/ 11619483 h 13820441"/>
              <a:gd name="connsiteX6" fmla="*/ 3679188 w 3885682"/>
              <a:gd name="connsiteY6" fmla="*/ 12811985 h 13820441"/>
              <a:gd name="connsiteX7" fmla="*/ 1400574 w 3885682"/>
              <a:gd name="connsiteY7" fmla="*/ 13820441 h 13820441"/>
              <a:gd name="connsiteX8" fmla="*/ 2534493 w 3885682"/>
              <a:gd name="connsiteY8" fmla="*/ 12227241 h 13820441"/>
              <a:gd name="connsiteX9" fmla="*/ 2526267 w 3885682"/>
              <a:gd name="connsiteY9" fmla="*/ 9963 h 13820441"/>
              <a:gd name="connsiteX10" fmla="*/ 2295268 w 3885682"/>
              <a:gd name="connsiteY10" fmla="*/ 1954978 h 13820441"/>
              <a:gd name="connsiteX11" fmla="*/ 300298 w 3885682"/>
              <a:gd name="connsiteY11" fmla="*/ 987742 h 13820441"/>
              <a:gd name="connsiteX12" fmla="*/ 2688229 w 3885682"/>
              <a:gd name="connsiteY12" fmla="*/ 0 h 13820441"/>
              <a:gd name="connsiteX13" fmla="*/ 3885682 w 3885682"/>
              <a:gd name="connsiteY13" fmla="*/ 2726070 h 13820441"/>
              <a:gd name="connsiteX14" fmla="*/ 2447293 w 3885682"/>
              <a:gd name="connsiteY14" fmla="*/ 2028686 h 13820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85682" h="13820441">
                <a:moveTo>
                  <a:pt x="1214113" y="11552756"/>
                </a:moveTo>
                <a:lnTo>
                  <a:pt x="1214113" y="13696546"/>
                </a:lnTo>
                <a:lnTo>
                  <a:pt x="0" y="10932550"/>
                </a:lnTo>
                <a:close/>
                <a:moveTo>
                  <a:pt x="2416908" y="12167177"/>
                </a:moveTo>
                <a:lnTo>
                  <a:pt x="1344742" y="13673610"/>
                </a:lnTo>
                <a:lnTo>
                  <a:pt x="1344742" y="11619483"/>
                </a:lnTo>
                <a:close/>
                <a:moveTo>
                  <a:pt x="3679188" y="12811985"/>
                </a:moveTo>
                <a:lnTo>
                  <a:pt x="1400574" y="13820441"/>
                </a:lnTo>
                <a:lnTo>
                  <a:pt x="2534493" y="12227241"/>
                </a:lnTo>
                <a:close/>
                <a:moveTo>
                  <a:pt x="2526267" y="9963"/>
                </a:moveTo>
                <a:lnTo>
                  <a:pt x="2295268" y="1954978"/>
                </a:lnTo>
                <a:lnTo>
                  <a:pt x="300298" y="987742"/>
                </a:lnTo>
                <a:close/>
                <a:moveTo>
                  <a:pt x="2688229" y="0"/>
                </a:moveTo>
                <a:lnTo>
                  <a:pt x="3885682" y="2726070"/>
                </a:lnTo>
                <a:lnTo>
                  <a:pt x="2447293" y="2028686"/>
                </a:lnTo>
                <a:close/>
              </a:path>
            </a:pathLst>
          </a:custGeom>
          <a:blipFill dpi="0" rotWithShape="0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U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CA5FD0AF-9564-1D77-9063-E7EB72F6DA3E}"/>
              </a:ext>
            </a:extLst>
          </p:cNvPr>
          <p:cNvSpPr/>
          <p:nvPr/>
        </p:nvSpPr>
        <p:spPr>
          <a:xfrm>
            <a:off x="5219598" y="68084"/>
            <a:ext cx="35702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Objetivos: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63358A-5DF6-48D1-ED46-FB8CF376DFE8}"/>
              </a:ext>
            </a:extLst>
          </p:cNvPr>
          <p:cNvSpPr txBox="1"/>
          <p:nvPr/>
        </p:nvSpPr>
        <p:spPr>
          <a:xfrm>
            <a:off x="1951625" y="1245550"/>
            <a:ext cx="401904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Específicos:</a:t>
            </a:r>
          </a:p>
          <a:p>
            <a:pPr algn="just"/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-Brindar información detallada</a:t>
            </a: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-Proporcionar recursos educativos</a:t>
            </a: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-Presentar casos de estudio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C57B139-2A0D-3886-EB97-20863265783C}"/>
              </a:ext>
            </a:extLst>
          </p:cNvPr>
          <p:cNvSpPr txBox="1"/>
          <p:nvPr/>
        </p:nvSpPr>
        <p:spPr>
          <a:xfrm>
            <a:off x="6775557" y="2840130"/>
            <a:ext cx="486543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Generales:</a:t>
            </a:r>
          </a:p>
          <a:p>
            <a:pPr algn="just"/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-Promover el intercambio de conocimiento</a:t>
            </a: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-Fomentar la formación continua</a:t>
            </a: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-Difundir información actualizada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06644F2-E9C9-951C-1C53-9E73BEB1A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9174"/>
            <a:ext cx="5344466" cy="377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091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00AF57F-C533-6D3E-855C-F06534882BD5}"/>
              </a:ext>
            </a:extLst>
          </p:cNvPr>
          <p:cNvSpPr txBox="1"/>
          <p:nvPr/>
        </p:nvSpPr>
        <p:spPr>
          <a:xfrm>
            <a:off x="1662523" y="641050"/>
            <a:ext cx="75532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Página Web: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conjunto de informaciones de un sitio web que se muestran en una pantalla y que puede incluir textos, contenidos multimedia y enlaces con otras páginas.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4FDC80E-5E11-B4FE-AA32-474AA92B73FF}"/>
              </a:ext>
            </a:extLst>
          </p:cNvPr>
          <p:cNvSpPr txBox="1"/>
          <p:nvPr/>
        </p:nvSpPr>
        <p:spPr>
          <a:xfrm>
            <a:off x="1597191" y="3611419"/>
            <a:ext cx="287771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Ventajas:</a:t>
            </a:r>
          </a:p>
          <a:p>
            <a:pPr algn="just"/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-Bajo costo</a:t>
            </a: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-Presencia local y global</a:t>
            </a: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-Comunicación con </a:t>
            </a: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clientes potenciales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36101D2-7AE1-7682-C7CE-3C68F45D9189}"/>
              </a:ext>
            </a:extLst>
          </p:cNvPr>
          <p:cNvSpPr txBox="1"/>
          <p:nvPr/>
        </p:nvSpPr>
        <p:spPr>
          <a:xfrm>
            <a:off x="7574480" y="3611419"/>
            <a:ext cx="399340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Características:</a:t>
            </a:r>
          </a:p>
          <a:p>
            <a:pPr algn="just"/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-Diseño atractivo y funcional</a:t>
            </a: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-Contenido relevante y actualizado</a:t>
            </a: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-Facilidad de navegación</a:t>
            </a: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-Velocidad de carga</a:t>
            </a:r>
          </a:p>
        </p:txBody>
      </p:sp>
      <p:sp>
        <p:nvSpPr>
          <p:cNvPr id="33" name="Forma libre: forma 32">
            <a:extLst>
              <a:ext uri="{FF2B5EF4-FFF2-40B4-BE49-F238E27FC236}">
                <a16:creationId xmlns:a16="http://schemas.microsoft.com/office/drawing/2014/main" id="{FB3BF238-44A0-2552-8ABD-E81A2B3B2FA3}"/>
              </a:ext>
            </a:extLst>
          </p:cNvPr>
          <p:cNvSpPr/>
          <p:nvPr/>
        </p:nvSpPr>
        <p:spPr>
          <a:xfrm rot="16200000">
            <a:off x="2663050" y="-2670948"/>
            <a:ext cx="6858001" cy="12199901"/>
          </a:xfrm>
          <a:custGeom>
            <a:avLst/>
            <a:gdLst>
              <a:gd name="connsiteX0" fmla="*/ 2101322 w 6858001"/>
              <a:gd name="connsiteY0" fmla="*/ 14728 h 12199901"/>
              <a:gd name="connsiteX1" fmla="*/ 1527487 w 6858001"/>
              <a:gd name="connsiteY1" fmla="*/ 665436 h 12199901"/>
              <a:gd name="connsiteX2" fmla="*/ 265062 w 6858001"/>
              <a:gd name="connsiteY2" fmla="*/ 299322 h 12199901"/>
              <a:gd name="connsiteX3" fmla="*/ 561941 w 6858001"/>
              <a:gd name="connsiteY3" fmla="*/ 1760328 h 12199901"/>
              <a:gd name="connsiteX4" fmla="*/ 0 w 6858001"/>
              <a:gd name="connsiteY4" fmla="*/ 2397546 h 12199901"/>
              <a:gd name="connsiteX5" fmla="*/ 1 w 6858001"/>
              <a:gd name="connsiteY5" fmla="*/ 0 h 12199901"/>
              <a:gd name="connsiteX6" fmla="*/ 2034774 w 6858001"/>
              <a:gd name="connsiteY6" fmla="*/ 0 h 12199901"/>
              <a:gd name="connsiteX7" fmla="*/ 4162427 w 6858001"/>
              <a:gd name="connsiteY7" fmla="*/ 6103900 h 12199901"/>
              <a:gd name="connsiteX8" fmla="*/ 3429002 w 6858001"/>
              <a:gd name="connsiteY8" fmla="*/ 6542050 h 12199901"/>
              <a:gd name="connsiteX9" fmla="*/ 2695577 w 6858001"/>
              <a:gd name="connsiteY9" fmla="*/ 6103900 h 12199901"/>
              <a:gd name="connsiteX10" fmla="*/ 3429002 w 6858001"/>
              <a:gd name="connsiteY10" fmla="*/ 5665750 h 12199901"/>
              <a:gd name="connsiteX11" fmla="*/ 6858001 w 6858001"/>
              <a:gd name="connsiteY11" fmla="*/ 10132140 h 12199901"/>
              <a:gd name="connsiteX12" fmla="*/ 6858001 w 6858001"/>
              <a:gd name="connsiteY12" fmla="*/ 12199901 h 12199901"/>
              <a:gd name="connsiteX13" fmla="*/ 4770308 w 6858001"/>
              <a:gd name="connsiteY13" fmla="*/ 12199901 h 12199901"/>
              <a:gd name="connsiteX14" fmla="*/ 5485782 w 6858001"/>
              <a:gd name="connsiteY14" fmla="*/ 11491258 h 12199901"/>
              <a:gd name="connsiteX15" fmla="*/ 6737214 w 6858001"/>
              <a:gd name="connsiteY15" fmla="*/ 12042924 h 12199901"/>
              <a:gd name="connsiteX16" fmla="*/ 6258374 w 6858001"/>
              <a:gd name="connsiteY16" fmla="*/ 10726042 h 12199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58001" h="12199901">
                <a:moveTo>
                  <a:pt x="2101322" y="14728"/>
                </a:moveTo>
                <a:lnTo>
                  <a:pt x="1527487" y="665436"/>
                </a:lnTo>
                <a:lnTo>
                  <a:pt x="265062" y="299322"/>
                </a:lnTo>
                <a:lnTo>
                  <a:pt x="561941" y="1760328"/>
                </a:lnTo>
                <a:lnTo>
                  <a:pt x="0" y="2397546"/>
                </a:lnTo>
                <a:lnTo>
                  <a:pt x="1" y="0"/>
                </a:lnTo>
                <a:lnTo>
                  <a:pt x="2034774" y="0"/>
                </a:lnTo>
                <a:close/>
                <a:moveTo>
                  <a:pt x="4162427" y="6103900"/>
                </a:moveTo>
                <a:lnTo>
                  <a:pt x="3429002" y="6542050"/>
                </a:lnTo>
                <a:lnTo>
                  <a:pt x="2695577" y="6103900"/>
                </a:lnTo>
                <a:lnTo>
                  <a:pt x="3429002" y="5665750"/>
                </a:lnTo>
                <a:close/>
                <a:moveTo>
                  <a:pt x="6858001" y="10132140"/>
                </a:moveTo>
                <a:lnTo>
                  <a:pt x="6858001" y="12199901"/>
                </a:lnTo>
                <a:lnTo>
                  <a:pt x="4770308" y="12199901"/>
                </a:lnTo>
                <a:lnTo>
                  <a:pt x="5485782" y="11491258"/>
                </a:lnTo>
                <a:lnTo>
                  <a:pt x="6737214" y="12042924"/>
                </a:lnTo>
                <a:lnTo>
                  <a:pt x="6258374" y="10726042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1067486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: forma 53">
            <a:extLst>
              <a:ext uri="{FF2B5EF4-FFF2-40B4-BE49-F238E27FC236}">
                <a16:creationId xmlns:a16="http://schemas.microsoft.com/office/drawing/2014/main" id="{EAC39098-CAD2-CD09-DE36-5F2E9ED2B7BB}"/>
              </a:ext>
            </a:extLst>
          </p:cNvPr>
          <p:cNvSpPr/>
          <p:nvPr/>
        </p:nvSpPr>
        <p:spPr>
          <a:xfrm rot="18366841">
            <a:off x="3268626" y="-5244308"/>
            <a:ext cx="8239670" cy="13849597"/>
          </a:xfrm>
          <a:custGeom>
            <a:avLst/>
            <a:gdLst>
              <a:gd name="connsiteX0" fmla="*/ 2763046 w 8239670"/>
              <a:gd name="connsiteY0" fmla="*/ 12291851 h 13849597"/>
              <a:gd name="connsiteX1" fmla="*/ 2763046 w 8239670"/>
              <a:gd name="connsiteY1" fmla="*/ 13849597 h 13849597"/>
              <a:gd name="connsiteX2" fmla="*/ 1539310 w 8239670"/>
              <a:gd name="connsiteY2" fmla="*/ 12172299 h 13849597"/>
              <a:gd name="connsiteX3" fmla="*/ 3780555 w 8239670"/>
              <a:gd name="connsiteY3" fmla="*/ 12299723 h 13849597"/>
              <a:gd name="connsiteX4" fmla="*/ 2925352 w 8239670"/>
              <a:gd name="connsiteY4" fmla="*/ 13745523 h 13849597"/>
              <a:gd name="connsiteX5" fmla="*/ 2925352 w 8239670"/>
              <a:gd name="connsiteY5" fmla="*/ 12216173 h 13849597"/>
              <a:gd name="connsiteX6" fmla="*/ 4905064 w 8239670"/>
              <a:gd name="connsiteY6" fmla="*/ 12304292 h 13849597"/>
              <a:gd name="connsiteX7" fmla="*/ 3139755 w 8239670"/>
              <a:gd name="connsiteY7" fmla="*/ 13592239 h 13849597"/>
              <a:gd name="connsiteX8" fmla="*/ 3956406 w 8239670"/>
              <a:gd name="connsiteY8" fmla="*/ 12211614 h 13849597"/>
              <a:gd name="connsiteX9" fmla="*/ 7996527 w 8239670"/>
              <a:gd name="connsiteY9" fmla="*/ 9768240 h 13849597"/>
              <a:gd name="connsiteX10" fmla="*/ 5980628 w 8239670"/>
              <a:gd name="connsiteY10" fmla="*/ 9922091 h 13849597"/>
              <a:gd name="connsiteX11" fmla="*/ 6000125 w 8239670"/>
              <a:gd name="connsiteY11" fmla="*/ 8983480 h 13849597"/>
              <a:gd name="connsiteX12" fmla="*/ 1022749 w 8239670"/>
              <a:gd name="connsiteY12" fmla="*/ 25328 h 13849597"/>
              <a:gd name="connsiteX13" fmla="*/ 761748 w 8239670"/>
              <a:gd name="connsiteY13" fmla="*/ 1016327 h 13849597"/>
              <a:gd name="connsiteX14" fmla="*/ 0 w 8239670"/>
              <a:gd name="connsiteY14" fmla="*/ 771512 h 13849597"/>
              <a:gd name="connsiteX15" fmla="*/ 8239670 w 8239670"/>
              <a:gd name="connsiteY15" fmla="*/ 9853921 h 13849597"/>
              <a:gd name="connsiteX16" fmla="*/ 6237778 w 8239670"/>
              <a:gd name="connsiteY16" fmla="*/ 11314477 h 13849597"/>
              <a:gd name="connsiteX17" fmla="*/ 6264985 w 8239670"/>
              <a:gd name="connsiteY17" fmla="*/ 10004627 h 13849597"/>
              <a:gd name="connsiteX18" fmla="*/ 7934933 w 8239670"/>
              <a:gd name="connsiteY18" fmla="*/ 9352464 h 13849597"/>
              <a:gd name="connsiteX19" fmla="*/ 6139723 w 8239670"/>
              <a:gd name="connsiteY19" fmla="*/ 7613348 h 13849597"/>
              <a:gd name="connsiteX20" fmla="*/ 6154294 w 8239670"/>
              <a:gd name="connsiteY20" fmla="*/ 6911855 h 13849597"/>
              <a:gd name="connsiteX21" fmla="*/ 8203000 w 8239670"/>
              <a:gd name="connsiteY21" fmla="*/ 9706782 h 13849597"/>
              <a:gd name="connsiteX22" fmla="*/ 6286816 w 8239670"/>
              <a:gd name="connsiteY22" fmla="*/ 8953553 h 13849597"/>
              <a:gd name="connsiteX23" fmla="*/ 6309276 w 8239670"/>
              <a:gd name="connsiteY23" fmla="*/ 7872228 h 13849597"/>
              <a:gd name="connsiteX24" fmla="*/ 2160069 w 8239670"/>
              <a:gd name="connsiteY24" fmla="*/ 1387451 h 13849597"/>
              <a:gd name="connsiteX25" fmla="*/ 889899 w 8239670"/>
              <a:gd name="connsiteY25" fmla="*/ 979236 h 13849597"/>
              <a:gd name="connsiteX26" fmla="*/ 1147802 w 8239670"/>
              <a:gd name="connsiteY26" fmla="*/ 0 h 13849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239670" h="13849597">
                <a:moveTo>
                  <a:pt x="2763046" y="12291851"/>
                </a:moveTo>
                <a:lnTo>
                  <a:pt x="2763046" y="13849597"/>
                </a:lnTo>
                <a:lnTo>
                  <a:pt x="1539310" y="12172299"/>
                </a:lnTo>
                <a:close/>
                <a:moveTo>
                  <a:pt x="3780555" y="12299723"/>
                </a:moveTo>
                <a:lnTo>
                  <a:pt x="2925352" y="13745523"/>
                </a:lnTo>
                <a:lnTo>
                  <a:pt x="2925352" y="12216173"/>
                </a:lnTo>
                <a:close/>
                <a:moveTo>
                  <a:pt x="4905064" y="12304292"/>
                </a:moveTo>
                <a:lnTo>
                  <a:pt x="3139755" y="13592239"/>
                </a:lnTo>
                <a:lnTo>
                  <a:pt x="3956406" y="12211614"/>
                </a:lnTo>
                <a:close/>
                <a:moveTo>
                  <a:pt x="7996527" y="9768240"/>
                </a:moveTo>
                <a:lnTo>
                  <a:pt x="5980628" y="9922091"/>
                </a:lnTo>
                <a:lnTo>
                  <a:pt x="6000125" y="8983480"/>
                </a:lnTo>
                <a:close/>
                <a:moveTo>
                  <a:pt x="1022749" y="25328"/>
                </a:moveTo>
                <a:lnTo>
                  <a:pt x="761748" y="1016327"/>
                </a:lnTo>
                <a:lnTo>
                  <a:pt x="0" y="771512"/>
                </a:lnTo>
                <a:close/>
                <a:moveTo>
                  <a:pt x="8239670" y="9853921"/>
                </a:moveTo>
                <a:lnTo>
                  <a:pt x="6237778" y="11314477"/>
                </a:lnTo>
                <a:lnTo>
                  <a:pt x="6264985" y="10004627"/>
                </a:lnTo>
                <a:close/>
                <a:moveTo>
                  <a:pt x="7934933" y="9352464"/>
                </a:moveTo>
                <a:lnTo>
                  <a:pt x="6139723" y="7613348"/>
                </a:lnTo>
                <a:lnTo>
                  <a:pt x="6154294" y="6911855"/>
                </a:lnTo>
                <a:close/>
                <a:moveTo>
                  <a:pt x="8203000" y="9706782"/>
                </a:moveTo>
                <a:lnTo>
                  <a:pt x="6286816" y="8953553"/>
                </a:lnTo>
                <a:lnTo>
                  <a:pt x="6309276" y="7872228"/>
                </a:lnTo>
                <a:close/>
                <a:moveTo>
                  <a:pt x="2160069" y="1387451"/>
                </a:moveTo>
                <a:lnTo>
                  <a:pt x="889899" y="979236"/>
                </a:lnTo>
                <a:lnTo>
                  <a:pt x="1147802" y="0"/>
                </a:lnTo>
                <a:close/>
              </a:path>
            </a:pathLst>
          </a:custGeom>
          <a:blipFill dpi="0" rotWithShape="0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U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A8283D64-CB12-49DC-A092-05977565FD4A}"/>
              </a:ext>
            </a:extLst>
          </p:cNvPr>
          <p:cNvSpPr/>
          <p:nvPr/>
        </p:nvSpPr>
        <p:spPr>
          <a:xfrm>
            <a:off x="1466575" y="364094"/>
            <a:ext cx="78406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Programas empleados: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F4EEEBB-D7A3-6BA9-02C3-A9FDDDE27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2778" y1="39444" x2="43611" y2="4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902" y="2718823"/>
            <a:ext cx="3429000" cy="34764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15B2F60-135E-A6E7-F2A5-1C58D038DC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006" y="3392965"/>
            <a:ext cx="3226837" cy="179580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DE257CB-E103-E72F-11F0-B2E0D60F6D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336" y="1125789"/>
            <a:ext cx="1941449" cy="194144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A9B09CB-EA90-45BE-593D-DC3C9E27D6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4891" y1="49219" x2="31522" y2="42969"/>
                        <a14:foregroundMark x1="31196" y1="43945" x2="35543" y2="41406"/>
                        <a14:foregroundMark x1="34130" y1="45117" x2="35761" y2="49805"/>
                        <a14:foregroundMark x1="32065" y1="46094" x2="33478" y2="445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40" y="3555833"/>
            <a:ext cx="3238807" cy="1802467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53492BDF-EEAE-CEFA-60CF-E9DE8CCD1DA0}"/>
              </a:ext>
            </a:extLst>
          </p:cNvPr>
          <p:cNvSpPr/>
          <p:nvPr/>
        </p:nvSpPr>
        <p:spPr>
          <a:xfrm>
            <a:off x="4128073" y="2805628"/>
            <a:ext cx="349154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Visual Studio </a:t>
            </a:r>
            <a:r>
              <a:rPr lang="es-ES" sz="28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endParaRPr lang="es-E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D9B7517-05C2-AADA-0A5D-38CC1EBCEC79}"/>
              </a:ext>
            </a:extLst>
          </p:cNvPr>
          <p:cNvSpPr/>
          <p:nvPr/>
        </p:nvSpPr>
        <p:spPr>
          <a:xfrm>
            <a:off x="7975218" y="5183204"/>
            <a:ext cx="2898538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Microsoft Word</a:t>
            </a:r>
            <a:endParaRPr lang="es-E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F529A10-E318-F798-0A00-2D7256261815}"/>
              </a:ext>
            </a:extLst>
          </p:cNvPr>
          <p:cNvSpPr/>
          <p:nvPr/>
        </p:nvSpPr>
        <p:spPr>
          <a:xfrm>
            <a:off x="4223077" y="5183205"/>
            <a:ext cx="3181845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Adobe Photoshop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BD47258-AAB6-9401-484D-291BC4EA6514}"/>
              </a:ext>
            </a:extLst>
          </p:cNvPr>
          <p:cNvSpPr/>
          <p:nvPr/>
        </p:nvSpPr>
        <p:spPr>
          <a:xfrm>
            <a:off x="-64836" y="5183204"/>
            <a:ext cx="401769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Microsoft PowerPoint</a:t>
            </a:r>
            <a:endParaRPr lang="es-E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966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4AE5E72-9BB2-5ABC-07C6-E7D7D144335F}"/>
              </a:ext>
            </a:extLst>
          </p:cNvPr>
          <p:cNvSpPr/>
          <p:nvPr/>
        </p:nvSpPr>
        <p:spPr>
          <a:xfrm>
            <a:off x="3733815" y="44293"/>
            <a:ext cx="47243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Organigrama:</a:t>
            </a:r>
            <a:endParaRPr lang="es-E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orma libre: forma 36">
            <a:extLst>
              <a:ext uri="{FF2B5EF4-FFF2-40B4-BE49-F238E27FC236}">
                <a16:creationId xmlns:a16="http://schemas.microsoft.com/office/drawing/2014/main" id="{AD069B6F-B9D5-F0B3-8242-D3D6711494C2}"/>
              </a:ext>
            </a:extLst>
          </p:cNvPr>
          <p:cNvSpPr/>
          <p:nvPr/>
        </p:nvSpPr>
        <p:spPr>
          <a:xfrm rot="18255736">
            <a:off x="-361184" y="-1286057"/>
            <a:ext cx="12464457" cy="9107545"/>
          </a:xfrm>
          <a:custGeom>
            <a:avLst/>
            <a:gdLst>
              <a:gd name="connsiteX0" fmla="*/ 2428974 w 12464457"/>
              <a:gd name="connsiteY0" fmla="*/ 3854037 h 9107545"/>
              <a:gd name="connsiteX1" fmla="*/ 2396468 w 12464457"/>
              <a:gd name="connsiteY1" fmla="*/ 5355323 h 9107545"/>
              <a:gd name="connsiteX2" fmla="*/ 159242 w 12464457"/>
              <a:gd name="connsiteY2" fmla="*/ 2071027 h 9107545"/>
              <a:gd name="connsiteX3" fmla="*/ 2449531 w 12464457"/>
              <a:gd name="connsiteY3" fmla="*/ 2358677 h 9107545"/>
              <a:gd name="connsiteX4" fmla="*/ 2420703 w 12464457"/>
              <a:gd name="connsiteY4" fmla="*/ 3690174 h 9107545"/>
              <a:gd name="connsiteX5" fmla="*/ 0 w 12464457"/>
              <a:gd name="connsiteY5" fmla="*/ 1788566 h 9107545"/>
              <a:gd name="connsiteX6" fmla="*/ 2488783 w 12464457"/>
              <a:gd name="connsiteY6" fmla="*/ 0 h 9107545"/>
              <a:gd name="connsiteX7" fmla="*/ 2440580 w 12464457"/>
              <a:gd name="connsiteY7" fmla="*/ 2226291 h 9107545"/>
              <a:gd name="connsiteX8" fmla="*/ 40559 w 12464457"/>
              <a:gd name="connsiteY8" fmla="*/ 1667703 h 9107545"/>
              <a:gd name="connsiteX9" fmla="*/ 12464457 w 12464457"/>
              <a:gd name="connsiteY9" fmla="*/ 7956590 h 9107545"/>
              <a:gd name="connsiteX10" fmla="*/ 10774831 w 12464457"/>
              <a:gd name="connsiteY10" fmla="*/ 9107545 h 9107545"/>
              <a:gd name="connsiteX11" fmla="*/ 10827250 w 12464457"/>
              <a:gd name="connsiteY11" fmla="*/ 7956590 h 9107545"/>
              <a:gd name="connsiteX12" fmla="*/ 12024147 w 12464457"/>
              <a:gd name="connsiteY12" fmla="*/ 7252134 h 9107545"/>
              <a:gd name="connsiteX13" fmla="*/ 12410293 w 12464457"/>
              <a:gd name="connsiteY13" fmla="*/ 7819004 h 9107545"/>
              <a:gd name="connsiteX14" fmla="*/ 10833514 w 12464457"/>
              <a:gd name="connsiteY14" fmla="*/ 7819004 h 9107545"/>
              <a:gd name="connsiteX15" fmla="*/ 10877183 w 12464457"/>
              <a:gd name="connsiteY15" fmla="*/ 6860159 h 910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464457" h="9107545">
                <a:moveTo>
                  <a:pt x="2428974" y="3854037"/>
                </a:moveTo>
                <a:lnTo>
                  <a:pt x="2396468" y="5355323"/>
                </a:lnTo>
                <a:lnTo>
                  <a:pt x="159242" y="2071027"/>
                </a:lnTo>
                <a:close/>
                <a:moveTo>
                  <a:pt x="2449531" y="2358677"/>
                </a:moveTo>
                <a:lnTo>
                  <a:pt x="2420703" y="3690174"/>
                </a:lnTo>
                <a:lnTo>
                  <a:pt x="0" y="1788566"/>
                </a:lnTo>
                <a:close/>
                <a:moveTo>
                  <a:pt x="2488783" y="0"/>
                </a:moveTo>
                <a:lnTo>
                  <a:pt x="2440580" y="2226291"/>
                </a:lnTo>
                <a:lnTo>
                  <a:pt x="40559" y="1667703"/>
                </a:lnTo>
                <a:close/>
                <a:moveTo>
                  <a:pt x="12464457" y="7956590"/>
                </a:moveTo>
                <a:lnTo>
                  <a:pt x="10774831" y="9107545"/>
                </a:lnTo>
                <a:lnTo>
                  <a:pt x="10827250" y="7956590"/>
                </a:lnTo>
                <a:close/>
                <a:moveTo>
                  <a:pt x="12024147" y="7252134"/>
                </a:moveTo>
                <a:lnTo>
                  <a:pt x="12410293" y="7819004"/>
                </a:lnTo>
                <a:lnTo>
                  <a:pt x="10833514" y="7819004"/>
                </a:lnTo>
                <a:lnTo>
                  <a:pt x="10877183" y="686015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U"/>
          </a:p>
        </p:txBody>
      </p:sp>
      <p:grpSp>
        <p:nvGrpSpPr>
          <p:cNvPr id="47" name="Grupo 46">
            <a:extLst>
              <a:ext uri="{FF2B5EF4-FFF2-40B4-BE49-F238E27FC236}">
                <a16:creationId xmlns:a16="http://schemas.microsoft.com/office/drawing/2014/main" id="{DEE63842-DE5E-D665-FBDA-C83E84FB8EB7}"/>
              </a:ext>
            </a:extLst>
          </p:cNvPr>
          <p:cNvGrpSpPr/>
          <p:nvPr/>
        </p:nvGrpSpPr>
        <p:grpSpPr>
          <a:xfrm>
            <a:off x="977147" y="1496240"/>
            <a:ext cx="9790800" cy="3110234"/>
            <a:chOff x="820130" y="1339225"/>
            <a:chExt cx="9790800" cy="3110234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D001E241-E2C5-AB98-B64F-BBBD243DE1D2}"/>
                </a:ext>
              </a:extLst>
            </p:cNvPr>
            <p:cNvSpPr/>
            <p:nvPr/>
          </p:nvSpPr>
          <p:spPr>
            <a:xfrm>
              <a:off x="3762337" y="1345481"/>
              <a:ext cx="1171853" cy="550416"/>
            </a:xfrm>
            <a:prstGeom prst="ellipse">
              <a:avLst/>
            </a:prstGeom>
            <a:solidFill>
              <a:srgbClr val="2C3E8C"/>
            </a:solidFill>
            <a:ln>
              <a:solidFill>
                <a:srgbClr val="405DA7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Inicio</a:t>
              </a:r>
              <a:endParaRPr lang="es-C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7319213-0303-789F-956E-3380B374A198}"/>
                </a:ext>
              </a:extLst>
            </p:cNvPr>
            <p:cNvSpPr/>
            <p:nvPr/>
          </p:nvSpPr>
          <p:spPr>
            <a:xfrm>
              <a:off x="5762771" y="1345481"/>
              <a:ext cx="745724" cy="377301"/>
            </a:xfrm>
            <a:prstGeom prst="rect">
              <a:avLst/>
            </a:prstGeom>
            <a:solidFill>
              <a:srgbClr val="2C3E8C"/>
            </a:solidFill>
            <a:ln>
              <a:solidFill>
                <a:srgbClr val="405DA7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C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05574D32-8759-A3CD-EA85-199ABC2DE68A}"/>
                </a:ext>
              </a:extLst>
            </p:cNvPr>
            <p:cNvSpPr/>
            <p:nvPr/>
          </p:nvSpPr>
          <p:spPr>
            <a:xfrm>
              <a:off x="6895414" y="1345481"/>
              <a:ext cx="745724" cy="377301"/>
            </a:xfrm>
            <a:prstGeom prst="rect">
              <a:avLst/>
            </a:prstGeom>
            <a:solidFill>
              <a:srgbClr val="2C3E8C"/>
            </a:solidFill>
            <a:ln>
              <a:solidFill>
                <a:srgbClr val="405DA7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Contenido</a:t>
              </a:r>
              <a:endParaRPr lang="es-CU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21F80904-88B6-D982-FFD8-2E7600DC88C4}"/>
                </a:ext>
              </a:extLst>
            </p:cNvPr>
            <p:cNvSpPr/>
            <p:nvPr/>
          </p:nvSpPr>
          <p:spPr>
            <a:xfrm>
              <a:off x="9328106" y="1339225"/>
              <a:ext cx="1282824" cy="377301"/>
            </a:xfrm>
            <a:prstGeom prst="rect">
              <a:avLst/>
            </a:prstGeom>
            <a:solidFill>
              <a:srgbClr val="2C3E8C"/>
            </a:solidFill>
            <a:ln>
              <a:solidFill>
                <a:srgbClr val="405DA7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Ir al Final</a:t>
              </a:r>
              <a:endParaRPr lang="es-C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1F14FAA7-ACF2-91A3-8AC5-88D74BE585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8263" y="2122843"/>
              <a:ext cx="5637795" cy="3873"/>
            </a:xfrm>
            <a:prstGeom prst="line">
              <a:avLst/>
            </a:prstGeom>
            <a:solidFill>
              <a:srgbClr val="2C3E8C"/>
            </a:solidFill>
            <a:ln>
              <a:solidFill>
                <a:srgbClr val="405DA7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835653DA-ACE5-8ACC-935A-2CA6E5C0E5E8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V="1">
              <a:off x="6135633" y="1722782"/>
              <a:ext cx="0" cy="403934"/>
            </a:xfrm>
            <a:prstGeom prst="straightConnector1">
              <a:avLst/>
            </a:prstGeom>
            <a:solidFill>
              <a:srgbClr val="2C3E8C"/>
            </a:solidFill>
            <a:ln>
              <a:solidFill>
                <a:srgbClr val="405DA7"/>
              </a:solidFill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1" name="Conector recto de flecha 10">
              <a:extLst>
                <a:ext uri="{FF2B5EF4-FFF2-40B4-BE49-F238E27FC236}">
                  <a16:creationId xmlns:a16="http://schemas.microsoft.com/office/drawing/2014/main" id="{E4DEFE9D-C313-F88E-1E09-E7DF6075A5D5}"/>
                </a:ext>
              </a:extLst>
            </p:cNvPr>
            <p:cNvCxnSpPr/>
            <p:nvPr/>
          </p:nvCxnSpPr>
          <p:spPr>
            <a:xfrm flipV="1">
              <a:off x="7277154" y="1722782"/>
              <a:ext cx="0" cy="403934"/>
            </a:xfrm>
            <a:prstGeom prst="straightConnector1">
              <a:avLst/>
            </a:prstGeom>
            <a:solidFill>
              <a:srgbClr val="2C3E8C"/>
            </a:solidFill>
            <a:ln>
              <a:solidFill>
                <a:srgbClr val="405DA7"/>
              </a:solidFill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B9BCA00F-9950-0430-2D47-4ADB05C1CFBA}"/>
                </a:ext>
              </a:extLst>
            </p:cNvPr>
            <p:cNvCxnSpPr/>
            <p:nvPr/>
          </p:nvCxnSpPr>
          <p:spPr>
            <a:xfrm flipV="1">
              <a:off x="8511446" y="1724192"/>
              <a:ext cx="0" cy="403934"/>
            </a:xfrm>
            <a:prstGeom prst="straightConnector1">
              <a:avLst/>
            </a:prstGeom>
            <a:solidFill>
              <a:srgbClr val="2C3E8C"/>
            </a:solidFill>
            <a:ln>
              <a:solidFill>
                <a:srgbClr val="405DA7"/>
              </a:solidFill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B072CDC5-DA40-7A87-1472-6DB16E06E092}"/>
                </a:ext>
              </a:extLst>
            </p:cNvPr>
            <p:cNvSpPr/>
            <p:nvPr/>
          </p:nvSpPr>
          <p:spPr>
            <a:xfrm>
              <a:off x="820130" y="2597232"/>
              <a:ext cx="1198485" cy="1074198"/>
            </a:xfrm>
            <a:prstGeom prst="rect">
              <a:avLst/>
            </a:prstGeom>
            <a:solidFill>
              <a:srgbClr val="2C3E8C"/>
            </a:solidFill>
            <a:ln>
              <a:solidFill>
                <a:srgbClr val="405DA7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Unidad I</a:t>
              </a:r>
              <a:endParaRPr lang="es-C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5DA60FB2-7599-2946-05E8-1639A6FE0DBF}"/>
                </a:ext>
              </a:extLst>
            </p:cNvPr>
            <p:cNvSpPr/>
            <p:nvPr/>
          </p:nvSpPr>
          <p:spPr>
            <a:xfrm>
              <a:off x="2302211" y="2597232"/>
              <a:ext cx="1198485" cy="1074198"/>
            </a:xfrm>
            <a:prstGeom prst="rect">
              <a:avLst/>
            </a:prstGeom>
            <a:solidFill>
              <a:srgbClr val="2C3E8C"/>
            </a:solidFill>
            <a:ln>
              <a:solidFill>
                <a:srgbClr val="405DA7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Unidad II</a:t>
              </a:r>
              <a:endParaRPr lang="es-C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C3FA394D-D8AB-BBB2-1C14-D34AE9F6B2FE}"/>
                </a:ext>
              </a:extLst>
            </p:cNvPr>
            <p:cNvSpPr/>
            <p:nvPr/>
          </p:nvSpPr>
          <p:spPr>
            <a:xfrm>
              <a:off x="5163528" y="2611729"/>
              <a:ext cx="1198485" cy="1074198"/>
            </a:xfrm>
            <a:prstGeom prst="rect">
              <a:avLst/>
            </a:prstGeom>
            <a:solidFill>
              <a:srgbClr val="2C3E8C"/>
            </a:solidFill>
            <a:ln>
              <a:solidFill>
                <a:srgbClr val="405DA7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Unidad III</a:t>
              </a:r>
              <a:endParaRPr lang="es-C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BF67304-E8CF-0480-FB85-403F5A78C9CB}"/>
                </a:ext>
              </a:extLst>
            </p:cNvPr>
            <p:cNvSpPr/>
            <p:nvPr/>
          </p:nvSpPr>
          <p:spPr>
            <a:xfrm>
              <a:off x="6698872" y="2620966"/>
              <a:ext cx="1198485" cy="1074198"/>
            </a:xfrm>
            <a:prstGeom prst="rect">
              <a:avLst/>
            </a:prstGeom>
            <a:solidFill>
              <a:srgbClr val="2C3E8C"/>
            </a:solidFill>
            <a:ln>
              <a:solidFill>
                <a:srgbClr val="405DA7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Unidad IV</a:t>
              </a:r>
              <a:endParaRPr lang="es-C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2FCC0C8-8CA0-9E8E-163F-D7C245C2E7F8}"/>
                </a:ext>
              </a:extLst>
            </p:cNvPr>
            <p:cNvSpPr/>
            <p:nvPr/>
          </p:nvSpPr>
          <p:spPr>
            <a:xfrm>
              <a:off x="8159425" y="2609151"/>
              <a:ext cx="1198485" cy="1074198"/>
            </a:xfrm>
            <a:prstGeom prst="rect">
              <a:avLst/>
            </a:prstGeom>
            <a:solidFill>
              <a:srgbClr val="2C3E8C"/>
            </a:solidFill>
            <a:ln>
              <a:solidFill>
                <a:srgbClr val="405DA7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Unidad V</a:t>
              </a:r>
              <a:endParaRPr lang="es-C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AC555710-91A8-C958-FF29-893D3A8B4CCC}"/>
                </a:ext>
              </a:extLst>
            </p:cNvPr>
            <p:cNvCxnSpPr>
              <a:cxnSpLocks/>
            </p:cNvCxnSpPr>
            <p:nvPr/>
          </p:nvCxnSpPr>
          <p:spPr>
            <a:xfrm>
              <a:off x="1419371" y="2322024"/>
              <a:ext cx="7417693" cy="0"/>
            </a:xfrm>
            <a:prstGeom prst="line">
              <a:avLst/>
            </a:prstGeom>
            <a:solidFill>
              <a:srgbClr val="2C3E8C"/>
            </a:solidFill>
            <a:ln>
              <a:solidFill>
                <a:srgbClr val="405DA7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2E272325-CD72-B5CE-958B-76A367C6806D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1419373" y="2322024"/>
              <a:ext cx="0" cy="275208"/>
            </a:xfrm>
            <a:prstGeom prst="straightConnector1">
              <a:avLst/>
            </a:prstGeom>
            <a:solidFill>
              <a:srgbClr val="2C3E8C"/>
            </a:solidFill>
            <a:ln>
              <a:solidFill>
                <a:srgbClr val="405DA7"/>
              </a:solidFill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C988388C-A6BC-3877-D108-461852FB16C2}"/>
                </a:ext>
              </a:extLst>
            </p:cNvPr>
            <p:cNvCxnSpPr>
              <a:cxnSpLocks/>
            </p:cNvCxnSpPr>
            <p:nvPr/>
          </p:nvCxnSpPr>
          <p:spPr>
            <a:xfrm>
              <a:off x="2901453" y="2333943"/>
              <a:ext cx="0" cy="275208"/>
            </a:xfrm>
            <a:prstGeom prst="straightConnector1">
              <a:avLst/>
            </a:prstGeom>
            <a:solidFill>
              <a:srgbClr val="2C3E8C"/>
            </a:solidFill>
            <a:ln>
              <a:solidFill>
                <a:srgbClr val="405DA7"/>
              </a:solidFill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FAA3C699-64E5-AA28-FF5A-08137CC9145A}"/>
                </a:ext>
              </a:extLst>
            </p:cNvPr>
            <p:cNvCxnSpPr>
              <a:cxnSpLocks/>
            </p:cNvCxnSpPr>
            <p:nvPr/>
          </p:nvCxnSpPr>
          <p:spPr>
            <a:xfrm>
              <a:off x="5765253" y="2333943"/>
              <a:ext cx="0" cy="275208"/>
            </a:xfrm>
            <a:prstGeom prst="straightConnector1">
              <a:avLst/>
            </a:prstGeom>
            <a:solidFill>
              <a:srgbClr val="2C3E8C"/>
            </a:solidFill>
            <a:ln>
              <a:solidFill>
                <a:srgbClr val="405DA7"/>
              </a:solidFill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31051BBC-3535-C895-BB16-89E9B46A970D}"/>
                </a:ext>
              </a:extLst>
            </p:cNvPr>
            <p:cNvCxnSpPr>
              <a:cxnSpLocks/>
            </p:cNvCxnSpPr>
            <p:nvPr/>
          </p:nvCxnSpPr>
          <p:spPr>
            <a:xfrm>
              <a:off x="7308471" y="2322024"/>
              <a:ext cx="0" cy="275208"/>
            </a:xfrm>
            <a:prstGeom prst="straightConnector1">
              <a:avLst/>
            </a:prstGeom>
            <a:solidFill>
              <a:srgbClr val="2C3E8C"/>
            </a:solidFill>
            <a:ln>
              <a:solidFill>
                <a:srgbClr val="405DA7"/>
              </a:solidFill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B3BD5015-ECA2-41B3-847B-6ADB5CBCC672}"/>
                </a:ext>
              </a:extLst>
            </p:cNvPr>
            <p:cNvCxnSpPr>
              <a:cxnSpLocks/>
            </p:cNvCxnSpPr>
            <p:nvPr/>
          </p:nvCxnSpPr>
          <p:spPr>
            <a:xfrm>
              <a:off x="4348263" y="1895897"/>
              <a:ext cx="0" cy="2149628"/>
            </a:xfrm>
            <a:prstGeom prst="straightConnector1">
              <a:avLst/>
            </a:prstGeom>
            <a:solidFill>
              <a:srgbClr val="2C3E8C"/>
            </a:solidFill>
            <a:ln>
              <a:solidFill>
                <a:srgbClr val="405DA7"/>
              </a:solidFill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5C2640D5-4BF7-4F17-2567-55255AEA66D8}"/>
                </a:ext>
              </a:extLst>
            </p:cNvPr>
            <p:cNvCxnSpPr>
              <a:cxnSpLocks/>
            </p:cNvCxnSpPr>
            <p:nvPr/>
          </p:nvCxnSpPr>
          <p:spPr>
            <a:xfrm>
              <a:off x="8837064" y="2322024"/>
              <a:ext cx="0" cy="275208"/>
            </a:xfrm>
            <a:prstGeom prst="straightConnector1">
              <a:avLst/>
            </a:prstGeom>
            <a:solidFill>
              <a:srgbClr val="2C3E8C"/>
            </a:solidFill>
            <a:ln>
              <a:solidFill>
                <a:srgbClr val="405DA7"/>
              </a:solidFill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75A35B62-ECE9-FCEF-A7A5-F6E3EF89630C}"/>
                </a:ext>
              </a:extLst>
            </p:cNvPr>
            <p:cNvSpPr/>
            <p:nvPr/>
          </p:nvSpPr>
          <p:spPr>
            <a:xfrm>
              <a:off x="3975401" y="4072158"/>
              <a:ext cx="745724" cy="377301"/>
            </a:xfrm>
            <a:prstGeom prst="rect">
              <a:avLst/>
            </a:prstGeom>
            <a:solidFill>
              <a:srgbClr val="2C3E8C"/>
            </a:solidFill>
            <a:ln>
              <a:solidFill>
                <a:srgbClr val="405DA7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Enviar</a:t>
              </a:r>
              <a:endParaRPr lang="es-C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FFFFEB8F-3D47-9A05-1B3D-3C8970030AEE}"/>
                </a:ext>
              </a:extLst>
            </p:cNvPr>
            <p:cNvCxnSpPr/>
            <p:nvPr/>
          </p:nvCxnSpPr>
          <p:spPr>
            <a:xfrm flipV="1">
              <a:off x="9986058" y="1720606"/>
              <a:ext cx="0" cy="403934"/>
            </a:xfrm>
            <a:prstGeom prst="straightConnector1">
              <a:avLst/>
            </a:prstGeom>
            <a:solidFill>
              <a:srgbClr val="2C3E8C"/>
            </a:solidFill>
            <a:ln>
              <a:solidFill>
                <a:srgbClr val="405DA7"/>
              </a:solidFill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6D384497-7B7F-88C6-DA80-60198B85E154}"/>
                </a:ext>
              </a:extLst>
            </p:cNvPr>
            <p:cNvSpPr/>
            <p:nvPr/>
          </p:nvSpPr>
          <p:spPr>
            <a:xfrm>
              <a:off x="8126662" y="1339225"/>
              <a:ext cx="745724" cy="377301"/>
            </a:xfrm>
            <a:prstGeom prst="rect">
              <a:avLst/>
            </a:prstGeom>
            <a:solidFill>
              <a:srgbClr val="2C3E8C"/>
            </a:solidFill>
            <a:ln>
              <a:solidFill>
                <a:srgbClr val="405DA7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Conócenos</a:t>
              </a:r>
              <a:endParaRPr lang="es-CU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8486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E3D90253-81AA-0515-16FE-FDF2F5AC43B6}"/>
              </a:ext>
            </a:extLst>
          </p:cNvPr>
          <p:cNvSpPr/>
          <p:nvPr/>
        </p:nvSpPr>
        <p:spPr>
          <a:xfrm>
            <a:off x="-1" y="1"/>
            <a:ext cx="12192000" cy="6857999"/>
          </a:xfrm>
          <a:custGeom>
            <a:avLst/>
            <a:gdLst>
              <a:gd name="connsiteX0" fmla="*/ 12183745 w 12192000"/>
              <a:gd name="connsiteY0" fmla="*/ 4666082 h 6857999"/>
              <a:gd name="connsiteX1" fmla="*/ 12192000 w 12192000"/>
              <a:gd name="connsiteY1" fmla="*/ 4689474 h 6857999"/>
              <a:gd name="connsiteX2" fmla="*/ 12192000 w 12192000"/>
              <a:gd name="connsiteY2" fmla="*/ 6857999 h 6857999"/>
              <a:gd name="connsiteX3" fmla="*/ 10507362 w 12192000"/>
              <a:gd name="connsiteY3" fmla="*/ 6857999 h 6857999"/>
              <a:gd name="connsiteX4" fmla="*/ 10491345 w 12192000"/>
              <a:gd name="connsiteY4" fmla="*/ 6854182 h 6857999"/>
              <a:gd name="connsiteX5" fmla="*/ 0 w 12192000"/>
              <a:gd name="connsiteY5" fmla="*/ 0 h 6857999"/>
              <a:gd name="connsiteX6" fmla="*/ 1684638 w 12192000"/>
              <a:gd name="connsiteY6" fmla="*/ 0 h 6857999"/>
              <a:gd name="connsiteX7" fmla="*/ 1700655 w 12192000"/>
              <a:gd name="connsiteY7" fmla="*/ 3817 h 6857999"/>
              <a:gd name="connsiteX8" fmla="*/ 8255 w 12192000"/>
              <a:gd name="connsiteY8" fmla="*/ 2191917 h 6857999"/>
              <a:gd name="connsiteX9" fmla="*/ 0 w 12192000"/>
              <a:gd name="connsiteY9" fmla="*/ 216852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57999">
                <a:moveTo>
                  <a:pt x="12183745" y="4666082"/>
                </a:moveTo>
                <a:lnTo>
                  <a:pt x="12192000" y="4689474"/>
                </a:lnTo>
                <a:lnTo>
                  <a:pt x="12192000" y="6857999"/>
                </a:lnTo>
                <a:lnTo>
                  <a:pt x="10507362" y="6857999"/>
                </a:lnTo>
                <a:lnTo>
                  <a:pt x="10491345" y="6854182"/>
                </a:lnTo>
                <a:close/>
                <a:moveTo>
                  <a:pt x="0" y="0"/>
                </a:moveTo>
                <a:lnTo>
                  <a:pt x="1684638" y="0"/>
                </a:lnTo>
                <a:lnTo>
                  <a:pt x="1700655" y="3817"/>
                </a:lnTo>
                <a:lnTo>
                  <a:pt x="8255" y="2191917"/>
                </a:lnTo>
                <a:lnTo>
                  <a:pt x="0" y="2168525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U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9A611-5517-3B0F-9F31-9253AE4EE291}"/>
              </a:ext>
            </a:extLst>
          </p:cNvPr>
          <p:cNvSpPr txBox="1"/>
          <p:nvPr/>
        </p:nvSpPr>
        <p:spPr>
          <a:xfrm>
            <a:off x="1672293" y="1687369"/>
            <a:ext cx="3813865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Funcionales:</a:t>
            </a:r>
          </a:p>
          <a:p>
            <a:pPr algn="just"/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-Permitir acceso a la información</a:t>
            </a: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-Tener sección con contenido</a:t>
            </a: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-Debe ser responsive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E174B6E-2954-59A9-7547-99542FCF83EB}"/>
              </a:ext>
            </a:extLst>
          </p:cNvPr>
          <p:cNvSpPr txBox="1"/>
          <p:nvPr/>
        </p:nvSpPr>
        <p:spPr>
          <a:xfrm>
            <a:off x="7750295" y="1687369"/>
            <a:ext cx="2860720" cy="27699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No Funcionales:</a:t>
            </a:r>
          </a:p>
          <a:p>
            <a:pPr algn="just"/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-Diseño atractivo </a:t>
            </a: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-Fácil uso y navegación</a:t>
            </a: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-Tiempo de carga rápido</a:t>
            </a: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-Seguridad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8C26E2A-E9FE-DB2E-5022-C1A34D9B20A6}"/>
              </a:ext>
            </a:extLst>
          </p:cNvPr>
          <p:cNvSpPr/>
          <p:nvPr/>
        </p:nvSpPr>
        <p:spPr>
          <a:xfrm>
            <a:off x="4118535" y="147279"/>
            <a:ext cx="39549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Requisitos</a:t>
            </a:r>
            <a:r>
              <a:rPr lang="es-E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FF9495-76A4-C288-63E2-A1E8267ED0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045" y="3429000"/>
            <a:ext cx="5134533" cy="342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657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rma libre: forma 25">
            <a:extLst>
              <a:ext uri="{FF2B5EF4-FFF2-40B4-BE49-F238E27FC236}">
                <a16:creationId xmlns:a16="http://schemas.microsoft.com/office/drawing/2014/main" id="{1004E957-1269-55B2-4B1B-7BB0A3779B3E}"/>
              </a:ext>
            </a:extLst>
          </p:cNvPr>
          <p:cNvSpPr/>
          <p:nvPr/>
        </p:nvSpPr>
        <p:spPr>
          <a:xfrm rot="5400000">
            <a:off x="2656356" y="-2677645"/>
            <a:ext cx="6858003" cy="12213291"/>
          </a:xfrm>
          <a:custGeom>
            <a:avLst/>
            <a:gdLst>
              <a:gd name="connsiteX0" fmla="*/ 5928140 w 6858003"/>
              <a:gd name="connsiteY0" fmla="*/ 2 h 12213291"/>
              <a:gd name="connsiteX1" fmla="*/ 6858003 w 6858003"/>
              <a:gd name="connsiteY1" fmla="*/ 3300 h 12213291"/>
              <a:gd name="connsiteX2" fmla="*/ 6858003 w 6858003"/>
              <a:gd name="connsiteY2" fmla="*/ 1050433 h 12213291"/>
              <a:gd name="connsiteX3" fmla="*/ 6673769 w 6858003"/>
              <a:gd name="connsiteY3" fmla="*/ 842311 h 12213291"/>
              <a:gd name="connsiteX4" fmla="*/ 6673769 w 6858003"/>
              <a:gd name="connsiteY4" fmla="*/ 179219 h 12213291"/>
              <a:gd name="connsiteX5" fmla="*/ 6084937 w 6858003"/>
              <a:gd name="connsiteY5" fmla="*/ 177131 h 12213291"/>
              <a:gd name="connsiteX6" fmla="*/ 5807571 w 6858003"/>
              <a:gd name="connsiteY6" fmla="*/ 12192001 h 12213291"/>
              <a:gd name="connsiteX7" fmla="*/ 6006299 w 6858003"/>
              <a:gd name="connsiteY7" fmla="*/ 12016083 h 12213291"/>
              <a:gd name="connsiteX8" fmla="*/ 6702302 w 6858003"/>
              <a:gd name="connsiteY8" fmla="*/ 12016083 h 12213291"/>
              <a:gd name="connsiteX9" fmla="*/ 6704494 w 6858003"/>
              <a:gd name="connsiteY9" fmla="*/ 11398025 h 12213291"/>
              <a:gd name="connsiteX10" fmla="*/ 6858001 w 6858003"/>
              <a:gd name="connsiteY10" fmla="*/ 11262138 h 12213291"/>
              <a:gd name="connsiteX11" fmla="*/ 6854703 w 6858003"/>
              <a:gd name="connsiteY11" fmla="*/ 12192001 h 12213291"/>
              <a:gd name="connsiteX12" fmla="*/ 0 w 6858003"/>
              <a:gd name="connsiteY12" fmla="*/ 12209993 h 12213291"/>
              <a:gd name="connsiteX13" fmla="*/ 0 w 6858003"/>
              <a:gd name="connsiteY13" fmla="*/ 11162861 h 12213291"/>
              <a:gd name="connsiteX14" fmla="*/ 152401 w 6858003"/>
              <a:gd name="connsiteY14" fmla="*/ 11335022 h 12213291"/>
              <a:gd name="connsiteX15" fmla="*/ 152401 w 6858003"/>
              <a:gd name="connsiteY15" fmla="*/ 12012785 h 12213291"/>
              <a:gd name="connsiteX16" fmla="*/ 754261 w 6858003"/>
              <a:gd name="connsiteY16" fmla="*/ 12014919 h 12213291"/>
              <a:gd name="connsiteX17" fmla="*/ 929863 w 6858003"/>
              <a:gd name="connsiteY17" fmla="*/ 12213291 h 12213291"/>
              <a:gd name="connsiteX18" fmla="*/ 0 w 6858003"/>
              <a:gd name="connsiteY18" fmla="*/ 929864 h 12213291"/>
              <a:gd name="connsiteX19" fmla="*/ 3300 w 6858003"/>
              <a:gd name="connsiteY19" fmla="*/ 0 h 12213291"/>
              <a:gd name="connsiteX20" fmla="*/ 1050432 w 6858003"/>
              <a:gd name="connsiteY20" fmla="*/ 0 h 12213291"/>
              <a:gd name="connsiteX21" fmla="*/ 869534 w 6858003"/>
              <a:gd name="connsiteY21" fmla="*/ 160134 h 12213291"/>
              <a:gd name="connsiteX22" fmla="*/ 187533 w 6858003"/>
              <a:gd name="connsiteY22" fmla="*/ 160134 h 12213291"/>
              <a:gd name="connsiteX23" fmla="*/ 185384 w 6858003"/>
              <a:gd name="connsiteY23" fmla="*/ 765758 h 12213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858003" h="12213291">
                <a:moveTo>
                  <a:pt x="5928140" y="2"/>
                </a:moveTo>
                <a:lnTo>
                  <a:pt x="6858003" y="3300"/>
                </a:lnTo>
                <a:lnTo>
                  <a:pt x="6858003" y="1050433"/>
                </a:lnTo>
                <a:lnTo>
                  <a:pt x="6673769" y="842311"/>
                </a:lnTo>
                <a:lnTo>
                  <a:pt x="6673769" y="179219"/>
                </a:lnTo>
                <a:lnTo>
                  <a:pt x="6084937" y="177131"/>
                </a:lnTo>
                <a:close/>
                <a:moveTo>
                  <a:pt x="5807571" y="12192001"/>
                </a:moveTo>
                <a:lnTo>
                  <a:pt x="6006299" y="12016083"/>
                </a:lnTo>
                <a:lnTo>
                  <a:pt x="6702302" y="12016083"/>
                </a:lnTo>
                <a:lnTo>
                  <a:pt x="6704494" y="11398025"/>
                </a:lnTo>
                <a:lnTo>
                  <a:pt x="6858001" y="11262138"/>
                </a:lnTo>
                <a:lnTo>
                  <a:pt x="6854703" y="12192001"/>
                </a:lnTo>
                <a:close/>
                <a:moveTo>
                  <a:pt x="0" y="12209993"/>
                </a:moveTo>
                <a:lnTo>
                  <a:pt x="0" y="11162861"/>
                </a:lnTo>
                <a:lnTo>
                  <a:pt x="152401" y="11335022"/>
                </a:lnTo>
                <a:lnTo>
                  <a:pt x="152401" y="12012785"/>
                </a:lnTo>
                <a:lnTo>
                  <a:pt x="754261" y="12014919"/>
                </a:lnTo>
                <a:lnTo>
                  <a:pt x="929863" y="12213291"/>
                </a:lnTo>
                <a:close/>
                <a:moveTo>
                  <a:pt x="0" y="929864"/>
                </a:moveTo>
                <a:lnTo>
                  <a:pt x="3300" y="0"/>
                </a:lnTo>
                <a:lnTo>
                  <a:pt x="1050432" y="0"/>
                </a:lnTo>
                <a:lnTo>
                  <a:pt x="869534" y="160134"/>
                </a:lnTo>
                <a:lnTo>
                  <a:pt x="187533" y="160134"/>
                </a:lnTo>
                <a:lnTo>
                  <a:pt x="185384" y="765758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U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A8C58B3-C56F-8FBD-3DF6-E661DDD60034}"/>
              </a:ext>
            </a:extLst>
          </p:cNvPr>
          <p:cNvSpPr/>
          <p:nvPr/>
        </p:nvSpPr>
        <p:spPr>
          <a:xfrm>
            <a:off x="2838314" y="0"/>
            <a:ext cx="64940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Imágenes del Sitio:</a:t>
            </a:r>
            <a:endParaRPr lang="es-E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6015FC4-A8C9-5572-ED2C-F7DA113D9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582" y="923330"/>
            <a:ext cx="4775200" cy="2357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49C1A5B-3B29-1845-55D6-6CE088D7D5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220" y="919777"/>
            <a:ext cx="4775200" cy="2357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63B2928-520A-500C-B9E7-E8F92B0DCE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92" y="3890666"/>
            <a:ext cx="4775200" cy="2357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079B37B-4A4B-E587-5EE5-8FDFB07CCC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220" y="3888889"/>
            <a:ext cx="4775200" cy="2357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90547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493BCA68-0844-8842-D218-96681386A46E}"/>
              </a:ext>
            </a:extLst>
          </p:cNvPr>
          <p:cNvSpPr/>
          <p:nvPr/>
        </p:nvSpPr>
        <p:spPr>
          <a:xfrm>
            <a:off x="0" y="0"/>
            <a:ext cx="12187670" cy="6875890"/>
          </a:xfrm>
          <a:custGeom>
            <a:avLst/>
            <a:gdLst>
              <a:gd name="connsiteX0" fmla="*/ 12187670 w 12187670"/>
              <a:gd name="connsiteY0" fmla="*/ 6088204 h 6875890"/>
              <a:gd name="connsiteX1" fmla="*/ 12187670 w 12187670"/>
              <a:gd name="connsiteY1" fmla="*/ 6853379 h 6875890"/>
              <a:gd name="connsiteX2" fmla="*/ 11235170 w 12187670"/>
              <a:gd name="connsiteY2" fmla="*/ 6853379 h 6875890"/>
              <a:gd name="connsiteX3" fmla="*/ 2 w 12187670"/>
              <a:gd name="connsiteY3" fmla="*/ 5923390 h 6875890"/>
              <a:gd name="connsiteX4" fmla="*/ 765177 w 12187670"/>
              <a:gd name="connsiteY4" fmla="*/ 6875890 h 6875890"/>
              <a:gd name="connsiteX5" fmla="*/ 2 w 12187670"/>
              <a:gd name="connsiteY5" fmla="*/ 6875890 h 6875890"/>
              <a:gd name="connsiteX6" fmla="*/ 11422494 w 12187670"/>
              <a:gd name="connsiteY6" fmla="*/ 3897 h 6875890"/>
              <a:gd name="connsiteX7" fmla="*/ 12187670 w 12187670"/>
              <a:gd name="connsiteY7" fmla="*/ 3897 h 6875890"/>
              <a:gd name="connsiteX8" fmla="*/ 12187670 w 12187670"/>
              <a:gd name="connsiteY8" fmla="*/ 956397 h 6875890"/>
              <a:gd name="connsiteX9" fmla="*/ 0 w 12187670"/>
              <a:gd name="connsiteY9" fmla="*/ 0 h 6875890"/>
              <a:gd name="connsiteX10" fmla="*/ 952500 w 12187670"/>
              <a:gd name="connsiteY10" fmla="*/ 0 h 6875890"/>
              <a:gd name="connsiteX11" fmla="*/ 0 w 12187670"/>
              <a:gd name="connsiteY11" fmla="*/ 765175 h 687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7670" h="6875890">
                <a:moveTo>
                  <a:pt x="12187670" y="6088204"/>
                </a:moveTo>
                <a:lnTo>
                  <a:pt x="12187670" y="6853379"/>
                </a:lnTo>
                <a:lnTo>
                  <a:pt x="11235170" y="6853379"/>
                </a:lnTo>
                <a:close/>
                <a:moveTo>
                  <a:pt x="2" y="5923390"/>
                </a:moveTo>
                <a:lnTo>
                  <a:pt x="765177" y="6875890"/>
                </a:lnTo>
                <a:lnTo>
                  <a:pt x="2" y="6875890"/>
                </a:lnTo>
                <a:close/>
                <a:moveTo>
                  <a:pt x="11422494" y="3897"/>
                </a:moveTo>
                <a:lnTo>
                  <a:pt x="12187670" y="3897"/>
                </a:lnTo>
                <a:lnTo>
                  <a:pt x="12187670" y="956397"/>
                </a:lnTo>
                <a:close/>
                <a:moveTo>
                  <a:pt x="0" y="0"/>
                </a:moveTo>
                <a:lnTo>
                  <a:pt x="952500" y="0"/>
                </a:lnTo>
                <a:lnTo>
                  <a:pt x="0" y="765175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U"/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1E535A7F-E1CB-9FF2-ABC7-1E54C2B99AAA}"/>
              </a:ext>
            </a:extLst>
          </p:cNvPr>
          <p:cNvSpPr/>
          <p:nvPr/>
        </p:nvSpPr>
        <p:spPr>
          <a:xfrm>
            <a:off x="126570" y="152399"/>
            <a:ext cx="11919957" cy="6607316"/>
          </a:xfrm>
          <a:custGeom>
            <a:avLst/>
            <a:gdLst>
              <a:gd name="connsiteX0" fmla="*/ 11919957 w 11919957"/>
              <a:gd name="connsiteY0" fmla="*/ 5842141 h 6607316"/>
              <a:gd name="connsiteX1" fmla="*/ 11919957 w 11919957"/>
              <a:gd name="connsiteY1" fmla="*/ 6607316 h 6607316"/>
              <a:gd name="connsiteX2" fmla="*/ 10967457 w 11919957"/>
              <a:gd name="connsiteY2" fmla="*/ 6607316 h 6607316"/>
              <a:gd name="connsiteX3" fmla="*/ 1 w 11919957"/>
              <a:gd name="connsiteY3" fmla="*/ 5618590 h 6607316"/>
              <a:gd name="connsiteX4" fmla="*/ 765176 w 11919957"/>
              <a:gd name="connsiteY4" fmla="*/ 6571090 h 6607316"/>
              <a:gd name="connsiteX5" fmla="*/ 1 w 11919957"/>
              <a:gd name="connsiteY5" fmla="*/ 6571090 h 6607316"/>
              <a:gd name="connsiteX6" fmla="*/ 11154782 w 11919957"/>
              <a:gd name="connsiteY6" fmla="*/ 1 h 6607316"/>
              <a:gd name="connsiteX7" fmla="*/ 11919956 w 11919957"/>
              <a:gd name="connsiteY7" fmla="*/ 1 h 6607316"/>
              <a:gd name="connsiteX8" fmla="*/ 11919956 w 11919957"/>
              <a:gd name="connsiteY8" fmla="*/ 952501 h 6607316"/>
              <a:gd name="connsiteX9" fmla="*/ 0 w 11919957"/>
              <a:gd name="connsiteY9" fmla="*/ 0 h 6607316"/>
              <a:gd name="connsiteX10" fmla="*/ 952500 w 11919957"/>
              <a:gd name="connsiteY10" fmla="*/ 0 h 6607316"/>
              <a:gd name="connsiteX11" fmla="*/ 0 w 11919957"/>
              <a:gd name="connsiteY11" fmla="*/ 765175 h 660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919957" h="6607316">
                <a:moveTo>
                  <a:pt x="11919957" y="5842141"/>
                </a:moveTo>
                <a:lnTo>
                  <a:pt x="11919957" y="6607316"/>
                </a:lnTo>
                <a:lnTo>
                  <a:pt x="10967457" y="6607316"/>
                </a:lnTo>
                <a:close/>
                <a:moveTo>
                  <a:pt x="1" y="5618590"/>
                </a:moveTo>
                <a:lnTo>
                  <a:pt x="765176" y="6571090"/>
                </a:lnTo>
                <a:lnTo>
                  <a:pt x="1" y="6571090"/>
                </a:lnTo>
                <a:close/>
                <a:moveTo>
                  <a:pt x="11154782" y="1"/>
                </a:moveTo>
                <a:lnTo>
                  <a:pt x="11919956" y="1"/>
                </a:lnTo>
                <a:lnTo>
                  <a:pt x="11919956" y="952501"/>
                </a:lnTo>
                <a:close/>
                <a:moveTo>
                  <a:pt x="0" y="0"/>
                </a:moveTo>
                <a:lnTo>
                  <a:pt x="952500" y="0"/>
                </a:lnTo>
                <a:lnTo>
                  <a:pt x="0" y="765175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U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7EF0880-F412-D68D-0EBA-F6FCC07DE312}"/>
              </a:ext>
            </a:extLst>
          </p:cNvPr>
          <p:cNvSpPr/>
          <p:nvPr/>
        </p:nvSpPr>
        <p:spPr>
          <a:xfrm>
            <a:off x="3618398" y="-9236"/>
            <a:ext cx="49552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Conclusiones: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B95BC4D-C085-1068-09D1-EC76FDA84ED7}"/>
              </a:ext>
            </a:extLst>
          </p:cNvPr>
          <p:cNvSpPr txBox="1"/>
          <p:nvPr/>
        </p:nvSpPr>
        <p:spPr>
          <a:xfrm>
            <a:off x="2189991" y="1322800"/>
            <a:ext cx="781201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El sitio web de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Arquitectura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y Redes II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ofrece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información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detallada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y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actualizada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sobre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los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principios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y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conceptos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fundamentales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de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estas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materias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así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como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ejemplos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prácticos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y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casos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de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estudio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 Es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una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herramienta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muy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útil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para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estudiantes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profesionales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y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entusiastas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del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tema</a:t>
            </a:r>
            <a:r>
              <a:rPr lang="en-US" sz="2000" b="1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  <a:endParaRPr lang="es-CU" sz="2000" b="1" dirty="0">
              <a:effectLst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just"/>
            <a:endParaRPr lang="es-CU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559314F-47D3-417B-467D-C6834B44F1DF}"/>
              </a:ext>
            </a:extLst>
          </p:cNvPr>
          <p:cNvSpPr txBox="1"/>
          <p:nvPr/>
        </p:nvSpPr>
        <p:spPr>
          <a:xfrm>
            <a:off x="2120296" y="4709192"/>
            <a:ext cx="7932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“La </a:t>
            </a:r>
            <a:r>
              <a:rPr lang="en-US" b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asignatura</a:t>
            </a:r>
            <a:r>
              <a:rPr lang="en-US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de </a:t>
            </a:r>
            <a:r>
              <a:rPr lang="en-US" b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Arquitectura</a:t>
            </a:r>
            <a:r>
              <a:rPr lang="en-US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y Redes II es </a:t>
            </a:r>
            <a:r>
              <a:rPr lang="en-US" b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el</a:t>
            </a:r>
            <a:r>
              <a:rPr lang="en-US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puente</a:t>
            </a:r>
            <a:r>
              <a:rPr lang="en-US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que </a:t>
            </a:r>
            <a:r>
              <a:rPr lang="en-US" b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conecta</a:t>
            </a:r>
            <a:r>
              <a:rPr lang="en-US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el</a:t>
            </a:r>
            <a:r>
              <a:rPr lang="en-US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presente</a:t>
            </a:r>
            <a:r>
              <a:rPr lang="en-US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con </a:t>
            </a:r>
            <a:r>
              <a:rPr lang="en-US" b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el</a:t>
            </a:r>
            <a:r>
              <a:rPr lang="en-US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futuro</a:t>
            </a:r>
            <a:r>
              <a:rPr lang="en-US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tecnol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ó</a:t>
            </a:r>
            <a:r>
              <a:rPr lang="en-US" b="1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gico</a:t>
            </a:r>
            <a:r>
              <a:rPr lang="en-US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".</a:t>
            </a:r>
            <a:endParaRPr lang="es-CU" b="1" dirty="0">
              <a:solidFill>
                <a:srgbClr val="002060"/>
              </a:solidFill>
              <a:effectLst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endParaRPr lang="es-CU" dirty="0"/>
          </a:p>
        </p:txBody>
      </p:sp>
    </p:spTree>
    <p:extLst>
      <p:ext uri="{BB962C8B-B14F-4D97-AF65-F5344CB8AC3E}">
        <p14:creationId xmlns:p14="http://schemas.microsoft.com/office/powerpoint/2010/main" val="35203818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18470</TotalTime>
  <Words>364</Words>
  <Application>Microsoft Office PowerPoint</Application>
  <PresentationFormat>Panorámica</PresentationFormat>
  <Paragraphs>99</Paragraphs>
  <Slides>11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Bahnschrift</vt:lpstr>
      <vt:lpstr>Calibri</vt:lpstr>
      <vt:lpstr>Calibri Light</vt:lpstr>
      <vt:lpstr>Tema de Office</vt:lpstr>
      <vt:lpstr>Arquitectura y Redes II</vt:lpstr>
      <vt:lpstr>Arquitectura y Redes II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I</dc:title>
  <dc:creator>El Yoni</dc:creator>
  <cp:lastModifiedBy>El Yoni</cp:lastModifiedBy>
  <cp:revision>57</cp:revision>
  <dcterms:created xsi:type="dcterms:W3CDTF">2024-03-23T21:26:37Z</dcterms:created>
  <dcterms:modified xsi:type="dcterms:W3CDTF">2024-06-17T03:27:33Z</dcterms:modified>
</cp:coreProperties>
</file>